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D1F9"/>
          </a:solidFill>
          <a:ln w="12700">
            <a:solidFill>
              <a:srgbClr val="BED1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92256" y="6464808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860" dirty="0"/>
          </a:p>
        </p:txBody>
      </p:sp>
      <p:sp>
        <p:nvSpPr>
          <p:cNvPr id="4" name="Shape 2"/>
          <p:cNvSpPr/>
          <p:nvPr/>
        </p:nvSpPr>
        <p:spPr>
          <a:xfrm>
            <a:off x="8028432" y="749808"/>
            <a:ext cx="4160520" cy="6108192"/>
          </a:xfrm>
          <a:prstGeom prst="rect">
            <a:avLst/>
          </a:prstGeom>
          <a:solidFill>
            <a:srgbClr val="F3EFE7"/>
          </a:solidFill>
          <a:ln w="12700">
            <a:solidFill>
              <a:srgbClr val="F3EFE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530352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EAF1FF"/>
          </a:solidFill>
          <a:ln w="12700">
            <a:solidFill>
              <a:srgbClr val="BED1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630936"/>
            <a:ext cx="2322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PERSONAL SLIDE TEMPLATE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1353312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[Cover headline]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49808" y="246888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[Subtitle or one-paragraph framing.]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749808" y="3822192"/>
            <a:ext cx="1920240" cy="676656"/>
          </a:xfrm>
          <a:prstGeom prst="roundRect">
            <a:avLst>
              <a:gd name="adj" fmla="val 16216"/>
            </a:avLst>
          </a:prstGeom>
          <a:solidFill>
            <a:srgbClr val="EAF1FF"/>
          </a:solidFill>
          <a:ln w="13335">
            <a:solidFill>
              <a:srgbClr val="BED1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3913632"/>
            <a:ext cx="17007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[Chip A]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859536" y="4059936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[Value]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16352" y="3822192"/>
            <a:ext cx="1920240" cy="676656"/>
          </a:xfrm>
          <a:prstGeom prst="roundRect">
            <a:avLst>
              <a:gd name="adj" fmla="val 16216"/>
            </a:avLst>
          </a:prstGeom>
          <a:solidFill>
            <a:srgbClr val="EAF1FF"/>
          </a:solidFill>
          <a:ln w="13335">
            <a:solidFill>
              <a:srgbClr val="BED1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3913632"/>
            <a:ext cx="17007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[Chip B]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2926080" y="4059936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[Value]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82896" y="3822192"/>
            <a:ext cx="1920240" cy="676656"/>
          </a:xfrm>
          <a:prstGeom prst="roundRect">
            <a:avLst>
              <a:gd name="adj" fmla="val 16216"/>
            </a:avLst>
          </a:prstGeom>
          <a:solidFill>
            <a:srgbClr val="EAF1FF"/>
          </a:solidFill>
          <a:ln w="13335">
            <a:solidFill>
              <a:srgbClr val="BED1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92624" y="3913632"/>
            <a:ext cx="17007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[Chip C]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4992624" y="4059936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[Value]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66760" y="1463040"/>
            <a:ext cx="2834640" cy="43891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68512" y="175564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[Default structure]</a:t>
            </a:r>
            <a:endParaRPr lang="en-US" sz="1090" dirty="0"/>
          </a:p>
        </p:txBody>
      </p:sp>
      <p:sp>
        <p:nvSpPr>
          <p:cNvPr id="20" name="Text 18"/>
          <p:cNvSpPr/>
          <p:nvPr/>
        </p:nvSpPr>
        <p:spPr>
          <a:xfrm>
            <a:off x="8613648" y="2048256"/>
            <a:ext cx="21488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7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[Headline claim]</a:t>
            </a:r>
            <a:endParaRPr lang="en-US" sz="970" dirty="0"/>
          </a:p>
          <a:p>
            <a:pPr marL="152400" indent="-152400">
              <a:buSzPct val="100000"/>
              <a:buChar char="•"/>
            </a:pPr>
            <a:r>
              <a:rPr lang="en-US" sz="97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[One clean figure]</a:t>
            </a:r>
            <a:endParaRPr lang="en-US" sz="970" dirty="0"/>
          </a:p>
          <a:p>
            <a:pPr marL="152400" indent="-152400">
              <a:buSzPct val="100000"/>
              <a:buChar char="•"/>
            </a:pPr>
            <a:r>
              <a:rPr lang="en-US" sz="97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[Three takeaways]</a:t>
            </a:r>
            <a:endParaRPr lang="en-US" sz="970" dirty="0"/>
          </a:p>
          <a:p>
            <a:pPr marL="152400" indent="-152400">
              <a:buSzPct val="100000"/>
              <a:buChar char="•"/>
            </a:pPr>
            <a:r>
              <a:rPr lang="en-US" sz="97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[Compact confidence note]</a:t>
            </a:r>
            <a:endParaRPr lang="en-US" sz="970" dirty="0"/>
          </a:p>
          <a:p>
            <a:pPr marL="152400" indent="-152400">
              <a:buSzPct val="100000"/>
              <a:buChar char="•"/>
            </a:pPr>
            <a:r>
              <a:rPr lang="en-US" sz="97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[Minimal detail on-slide]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8668512" y="497433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[Optional footer note / use case.]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749808" y="6473952"/>
            <a:ext cx="6400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Template page: cover</a:t>
            </a:r>
            <a:endParaRPr lang="en-US" sz="8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D1F9"/>
          </a:solidFill>
          <a:ln w="12700">
            <a:solidFill>
              <a:srgbClr val="BED1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92256" y="6464808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860" dirty="0"/>
          </a:p>
        </p:txBody>
      </p:sp>
      <p:sp>
        <p:nvSpPr>
          <p:cNvPr id="4" name="Shape 2"/>
          <p:cNvSpPr/>
          <p:nvPr/>
        </p:nvSpPr>
        <p:spPr>
          <a:xfrm>
            <a:off x="749808" y="530352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EAF1FF"/>
          </a:solidFill>
          <a:ln w="12700">
            <a:solidFill>
              <a:srgbClr val="BED1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0936"/>
            <a:ext cx="2322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SECTION DIVIDER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9808" y="1719072"/>
            <a:ext cx="6766560" cy="3310128"/>
          </a:xfrm>
          <a:prstGeom prst="roundRect">
            <a:avLst>
              <a:gd name="adj" fmla="val 4420"/>
            </a:avLst>
          </a:prstGeom>
          <a:solidFill>
            <a:srgbClr val="EAF1FF"/>
          </a:solidFill>
          <a:ln w="13970">
            <a:solidFill>
              <a:srgbClr val="BED1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21284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[Section title]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24128" y="3072384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[Use this page to reset context before a new block of content.]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7845552" y="1719072"/>
            <a:ext cx="3364992" cy="3310128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19872" y="19933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[Quick notes]</a:t>
            </a:r>
            <a:endParaRPr lang="en-US" sz="1090" dirty="0"/>
          </a:p>
        </p:txBody>
      </p:sp>
      <p:sp>
        <p:nvSpPr>
          <p:cNvPr id="11" name="Text 9"/>
          <p:cNvSpPr/>
          <p:nvPr/>
        </p:nvSpPr>
        <p:spPr>
          <a:xfrm>
            <a:off x="8083296" y="2340864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[Context]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[Goal]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[Key question]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" y="6473952"/>
            <a:ext cx="6400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Template page: section divider</a:t>
            </a:r>
            <a:endParaRPr lang="en-US" sz="8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D1F9"/>
          </a:solidFill>
          <a:ln w="12700">
            <a:solidFill>
              <a:srgbClr val="BED1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92256" y="6464808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749808" y="5303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Template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9808" y="859536"/>
            <a:ext cx="9692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[Slide title]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61320" y="658368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Evidence page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808" y="1389888"/>
            <a:ext cx="699516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" y="1645920"/>
            <a:ext cx="6583680" cy="3968496"/>
          </a:xfrm>
          <a:prstGeom prst="roundRect">
            <a:avLst>
              <a:gd name="adj" fmla="val 2765"/>
            </a:avLst>
          </a:prstGeom>
          <a:solidFill>
            <a:srgbClr val="FFFFFF">
              <a:alpha val="0"/>
            </a:srgbClr>
          </a:solidFill>
          <a:ln w="15240">
            <a:solidFill>
              <a:srgbClr val="BED1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5296" y="1883664"/>
            <a:ext cx="607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[Large visual area]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25296" y="2231136"/>
            <a:ext cx="6071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[Plot / image / table / screenshot]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8065008" y="1389888"/>
            <a:ext cx="336499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9328" y="16459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[Setup]</a:t>
            </a:r>
            <a:endParaRPr lang="en-US" sz="1090" dirty="0"/>
          </a:p>
        </p:txBody>
      </p:sp>
      <p:sp>
        <p:nvSpPr>
          <p:cNvPr id="13" name="Text 11"/>
          <p:cNvSpPr/>
          <p:nvPr/>
        </p:nvSpPr>
        <p:spPr>
          <a:xfrm>
            <a:off x="8302752" y="1920240"/>
            <a:ext cx="2688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[Knob / sweep]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[Fixed inputs]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[Conditions]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65008" y="2852928"/>
            <a:ext cx="336499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310896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[Interpretation]</a:t>
            </a:r>
            <a:endParaRPr lang="en-US" sz="1090" dirty="0"/>
          </a:p>
        </p:txBody>
      </p:sp>
      <p:sp>
        <p:nvSpPr>
          <p:cNvPr id="16" name="Text 14"/>
          <p:cNvSpPr/>
          <p:nvPr/>
        </p:nvSpPr>
        <p:spPr>
          <a:xfrm>
            <a:off x="8302752" y="3383280"/>
            <a:ext cx="2688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[Observed trend]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[Interpretation]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[Conclusion]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65008" y="4315968"/>
            <a:ext cx="3364992" cy="1600200"/>
          </a:xfrm>
          <a:prstGeom prst="roundRect">
            <a:avLst>
              <a:gd name="adj" fmla="val 6857"/>
            </a:avLst>
          </a:prstGeom>
          <a:solidFill>
            <a:srgbClr val="F7F4EE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9328" y="457200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[Credibility]</a:t>
            </a:r>
            <a:endParaRPr lang="en-US" sz="1090" dirty="0"/>
          </a:p>
        </p:txBody>
      </p:sp>
      <p:sp>
        <p:nvSpPr>
          <p:cNvPr id="19" name="Shape 17"/>
          <p:cNvSpPr/>
          <p:nvPr/>
        </p:nvSpPr>
        <p:spPr>
          <a:xfrm>
            <a:off x="8339328" y="4892040"/>
            <a:ext cx="914400" cy="676656"/>
          </a:xfrm>
          <a:prstGeom prst="roundRect">
            <a:avLst>
              <a:gd name="adj" fmla="val 16216"/>
            </a:avLst>
          </a:prstGeom>
          <a:solidFill>
            <a:srgbClr val="ECF7F1"/>
          </a:solidFill>
          <a:ln w="13335">
            <a:solidFill>
              <a:srgbClr val="B7DD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49056" y="4983480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8449056" y="5129784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8A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 ]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326880" y="4892040"/>
            <a:ext cx="914400" cy="676656"/>
          </a:xfrm>
          <a:prstGeom prst="roundRect">
            <a:avLst>
              <a:gd name="adj" fmla="val 16216"/>
            </a:avLst>
          </a:prstGeom>
          <a:solidFill>
            <a:srgbClr val="FFF5E5"/>
          </a:solidFill>
          <a:ln w="13335">
            <a:solidFill>
              <a:srgbClr val="F0D49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36608" y="4983480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SV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9436608" y="5129784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871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 ]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314432" y="4892040"/>
            <a:ext cx="914400" cy="676656"/>
          </a:xfrm>
          <a:prstGeom prst="roundRect">
            <a:avLst>
              <a:gd name="adj" fmla="val 16216"/>
            </a:avLst>
          </a:prstGeom>
          <a:solidFill>
            <a:srgbClr val="FDEEEE"/>
          </a:solidFill>
          <a:ln w="13335">
            <a:solidFill>
              <a:srgbClr val="EABDB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0" y="4983480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VAL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10424160" y="5129784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5C5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 ]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9808" y="6473952"/>
            <a:ext cx="6400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Template page: evidence layout</a:t>
            </a:r>
            <a:endParaRPr lang="en-US" sz="8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D1F9"/>
          </a:solidFill>
          <a:ln w="12700">
            <a:solidFill>
              <a:srgbClr val="BED1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92256" y="6464808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749808" y="5303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Template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9808" y="859536"/>
            <a:ext cx="9875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[Structure slide]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49808" y="1609344"/>
            <a:ext cx="8961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[Use for one subsystem or one concept.]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1938528"/>
            <a:ext cx="3145536" cy="1408176"/>
          </a:xfrm>
          <a:prstGeom prst="roundRect">
            <a:avLst>
              <a:gd name="adj" fmla="val 7792"/>
            </a:avLst>
          </a:prstGeom>
          <a:solidFill>
            <a:srgbClr val="F7F4EE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1762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[Knobs / inputs]</a:t>
            </a:r>
            <a:endParaRPr lang="en-US" sz="1090" dirty="0"/>
          </a:p>
        </p:txBody>
      </p:sp>
      <p:sp>
        <p:nvSpPr>
          <p:cNvPr id="9" name="Text 7"/>
          <p:cNvSpPr/>
          <p:nvPr/>
        </p:nvSpPr>
        <p:spPr>
          <a:xfrm>
            <a:off x="987552" y="2468880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[Item 1]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[Item 2]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[Item 3]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749808" y="3511296"/>
            <a:ext cx="3145536" cy="1591056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7490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[Primary view]</a:t>
            </a:r>
            <a:endParaRPr lang="en-US" sz="1090" dirty="0"/>
          </a:p>
        </p:txBody>
      </p:sp>
      <p:sp>
        <p:nvSpPr>
          <p:cNvPr id="12" name="Text 10"/>
          <p:cNvSpPr/>
          <p:nvPr/>
        </p:nvSpPr>
        <p:spPr>
          <a:xfrm>
            <a:off x="987552" y="4041648"/>
            <a:ext cx="2706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[Matrix, metric, or observable]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0" y="1938528"/>
            <a:ext cx="3438144" cy="3163824"/>
          </a:xfrm>
          <a:prstGeom prst="roundRect">
            <a:avLst>
              <a:gd name="adj" fmla="val 3468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0832" y="21762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[Expected response]</a:t>
            </a:r>
            <a:endParaRPr lang="en-US" sz="1090" dirty="0"/>
          </a:p>
        </p:txBody>
      </p:sp>
      <p:sp>
        <p:nvSpPr>
          <p:cNvPr id="15" name="Text 13"/>
          <p:cNvSpPr/>
          <p:nvPr/>
        </p:nvSpPr>
        <p:spPr>
          <a:xfrm>
            <a:off x="4315968" y="2487168"/>
            <a:ext cx="2889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[Trend 1]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[Trend 2]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[Trend 3]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70832" y="40965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[Pass signals]</a:t>
            </a:r>
            <a:endParaRPr lang="en-US" sz="1090" dirty="0"/>
          </a:p>
        </p:txBody>
      </p:sp>
      <p:sp>
        <p:nvSpPr>
          <p:cNvPr id="17" name="Text 15"/>
          <p:cNvSpPr/>
          <p:nvPr/>
        </p:nvSpPr>
        <p:spPr>
          <a:xfrm>
            <a:off x="4315968" y="4389120"/>
            <a:ext cx="28895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[Signal 1]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[Signal 2]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[Signal 3]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90688" y="1938528"/>
            <a:ext cx="3657600" cy="3163824"/>
          </a:xfrm>
          <a:prstGeom prst="roundRect">
            <a:avLst>
              <a:gd name="adj" fmla="val 3468"/>
            </a:avLst>
          </a:prstGeom>
          <a:solidFill>
            <a:srgbClr val="F7F4EE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10144" y="2176272"/>
            <a:ext cx="3218688" cy="2724912"/>
          </a:xfrm>
          <a:prstGeom prst="roundRect">
            <a:avLst>
              <a:gd name="adj" fmla="val 4027"/>
            </a:avLst>
          </a:prstGeom>
          <a:solidFill>
            <a:srgbClr val="FFFFFF">
              <a:alpha val="0"/>
            </a:srgbClr>
          </a:solidFill>
          <a:ln w="15240">
            <a:solidFill>
              <a:srgbClr val="BED1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6176" y="2414016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[Visual / notes area]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66176" y="2761488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[Paste plot, figure, or supporting note]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749808" y="6473952"/>
            <a:ext cx="6400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Template page: subsystem / concept layout</a:t>
            </a:r>
            <a:endParaRPr lang="en-US" sz="8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D1F9"/>
          </a:solidFill>
          <a:ln w="12700">
            <a:solidFill>
              <a:srgbClr val="BED1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92256" y="6464808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749808" y="5303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Template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9808" y="859536"/>
            <a:ext cx="9875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[Comparison / interface slide]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749808" y="1609344"/>
            <a:ext cx="9144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[Use for pairwise comparisons, before/after, or alternatives.]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1920240"/>
            <a:ext cx="3291840" cy="1188720"/>
          </a:xfrm>
          <a:prstGeom prst="roundRect">
            <a:avLst>
              <a:gd name="adj" fmla="val 9231"/>
            </a:avLst>
          </a:prstGeom>
          <a:solidFill>
            <a:srgbClr val="F7F4EE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1396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[Controls]</a:t>
            </a:r>
            <a:endParaRPr lang="en-US" sz="1090" dirty="0"/>
          </a:p>
        </p:txBody>
      </p:sp>
      <p:sp>
        <p:nvSpPr>
          <p:cNvPr id="9" name="Text 7"/>
          <p:cNvSpPr/>
          <p:nvPr/>
        </p:nvSpPr>
        <p:spPr>
          <a:xfrm>
            <a:off x="987552" y="241401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[Knob 1]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[Knob 2]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[Knob 3]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749808" y="3273552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5112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[Primary view]</a:t>
            </a:r>
            <a:endParaRPr lang="en-US" sz="1090" dirty="0"/>
          </a:p>
        </p:txBody>
      </p:sp>
      <p:sp>
        <p:nvSpPr>
          <p:cNvPr id="12" name="Text 10"/>
          <p:cNvSpPr/>
          <p:nvPr/>
        </p:nvSpPr>
        <p:spPr>
          <a:xfrm>
            <a:off x="987552" y="380390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[Matrix, chart, or table reference]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42816" y="1920240"/>
            <a:ext cx="3493008" cy="3182112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21396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[Expected / key differences]</a:t>
            </a:r>
            <a:endParaRPr lang="en-US" sz="1090" dirty="0"/>
          </a:p>
        </p:txBody>
      </p:sp>
      <p:sp>
        <p:nvSpPr>
          <p:cNvPr id="15" name="Text 13"/>
          <p:cNvSpPr/>
          <p:nvPr/>
        </p:nvSpPr>
        <p:spPr>
          <a:xfrm>
            <a:off x="4443984" y="2432304"/>
            <a:ext cx="29260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[Point 1]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[Point 2]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[Point 3]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98848" y="407822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[Risks / failure signs]</a:t>
            </a:r>
            <a:endParaRPr lang="en-US" sz="1090" dirty="0"/>
          </a:p>
        </p:txBody>
      </p:sp>
      <p:sp>
        <p:nvSpPr>
          <p:cNvPr id="17" name="Text 15"/>
          <p:cNvSpPr/>
          <p:nvPr/>
        </p:nvSpPr>
        <p:spPr>
          <a:xfrm>
            <a:off x="4443984" y="437083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[Risk 1]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[Risk 2]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[Risk 3]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936992" y="1920240"/>
            <a:ext cx="3511296" cy="3182112"/>
          </a:xfrm>
          <a:prstGeom prst="roundRect">
            <a:avLst>
              <a:gd name="adj" fmla="val 3448"/>
            </a:avLst>
          </a:prstGeom>
          <a:solidFill>
            <a:srgbClr val="F7F4EE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6448" y="2139696"/>
            <a:ext cx="3072384" cy="2743200"/>
          </a:xfrm>
          <a:prstGeom prst="roundRect">
            <a:avLst>
              <a:gd name="adj" fmla="val 4000"/>
            </a:avLst>
          </a:prstGeom>
          <a:solidFill>
            <a:srgbClr val="FFFFFF">
              <a:alpha val="0"/>
            </a:srgbClr>
          </a:solidFill>
          <a:ln w="15240">
            <a:solidFill>
              <a:srgbClr val="BED1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2377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[Comparison visual]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0" y="27249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[Overlay plot / chart / image pair]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749808" y="6473952"/>
            <a:ext cx="6400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Template page: comparison / interface layout</a:t>
            </a:r>
            <a:endParaRPr lang="en-US" sz="8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D1F9"/>
          </a:solidFill>
          <a:ln w="12700">
            <a:solidFill>
              <a:srgbClr val="BED1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92256" y="6464808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06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749808" y="5303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Template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9808" y="859536"/>
            <a:ext cx="9875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[Diagram / topology slide]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1609344"/>
            <a:ext cx="8961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[Use for architecture, topology, or system sketches.]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1901952"/>
            <a:ext cx="10991088" cy="4443984"/>
          </a:xfrm>
          <a:prstGeom prst="roundRect">
            <a:avLst>
              <a:gd name="adj" fmla="val 3292"/>
            </a:avLst>
          </a:prstGeom>
          <a:solidFill>
            <a:srgbClr val="EAF1FF"/>
          </a:solidFill>
          <a:ln w="13970">
            <a:solidFill>
              <a:srgbClr val="BED1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0665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[Diagram placeholder]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24128" y="2615184"/>
            <a:ext cx="9875520" cy="3035808"/>
          </a:xfrm>
          <a:prstGeom prst="roundRect">
            <a:avLst>
              <a:gd name="adj" fmla="val 3614"/>
            </a:avLst>
          </a:prstGeom>
          <a:solidFill>
            <a:srgbClr val="FFFFFF">
              <a:alpha val="0"/>
            </a:srgbClr>
          </a:solidFill>
          <a:ln w="15240">
            <a:solidFill>
              <a:srgbClr val="BED1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852928"/>
            <a:ext cx="9363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[Insert diagram / topology / sketch]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3200400"/>
            <a:ext cx="9363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[Optional arrows, labels, or annotations]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987552" y="58338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[Optional bottom note]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749808" y="6473952"/>
            <a:ext cx="6400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Template page: diagram canvas</a:t>
            </a:r>
            <a:endParaRPr lang="en-US" sz="8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D1F9"/>
          </a:solidFill>
          <a:ln w="12700">
            <a:solidFill>
              <a:srgbClr val="BED1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92256" y="6464808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07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749808" y="5303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Template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9808" y="859536"/>
            <a:ext cx="9875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[Matrix / table slide]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1609344"/>
            <a:ext cx="8961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[Use for inventories, scorecards, checklists, or comparisons.]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1901952"/>
            <a:ext cx="7443216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13969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[Table / matrix area]</a:t>
            </a:r>
            <a:endParaRPr lang="en-US" sz="1090" dirty="0"/>
          </a:p>
        </p:txBody>
      </p:sp>
      <p:sp>
        <p:nvSpPr>
          <p:cNvPr id="9" name="Shape 7"/>
          <p:cNvSpPr/>
          <p:nvPr/>
        </p:nvSpPr>
        <p:spPr>
          <a:xfrm>
            <a:off x="987552" y="2487168"/>
            <a:ext cx="6967728" cy="3529584"/>
          </a:xfrm>
          <a:prstGeom prst="roundRect">
            <a:avLst>
              <a:gd name="adj" fmla="val 3109"/>
            </a:avLst>
          </a:prstGeom>
          <a:solidFill>
            <a:srgbClr val="FFFFFF">
              <a:alpha val="0"/>
            </a:srgbClr>
          </a:solidFill>
          <a:ln w="15240">
            <a:solidFill>
              <a:srgbClr val="BED1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43584" y="2724912"/>
            <a:ext cx="6455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[Insert table / matrix]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43584" y="3072384"/>
            <a:ext cx="6455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[Rows, columns, and status indicators]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8394192" y="1901952"/>
            <a:ext cx="3054096" cy="4389120"/>
          </a:xfrm>
          <a:prstGeom prst="roundRect">
            <a:avLst>
              <a:gd name="adj" fmla="val 3593"/>
            </a:avLst>
          </a:prstGeom>
          <a:solidFill>
            <a:srgbClr val="F7F4EE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31936" y="213969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[Notes]</a:t>
            </a:r>
            <a:endParaRPr lang="en-US" sz="1090" dirty="0"/>
          </a:p>
        </p:txBody>
      </p:sp>
      <p:sp>
        <p:nvSpPr>
          <p:cNvPr id="14" name="Text 12"/>
          <p:cNvSpPr/>
          <p:nvPr/>
        </p:nvSpPr>
        <p:spPr>
          <a:xfrm>
            <a:off x="8595360" y="2487168"/>
            <a:ext cx="22860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[Legend]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[How to read]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[Key takeaway]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[Next step]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31936" y="468172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[Optional fields]</a:t>
            </a:r>
            <a:endParaRPr lang="en-US" sz="1090" dirty="0"/>
          </a:p>
        </p:txBody>
      </p:sp>
      <p:sp>
        <p:nvSpPr>
          <p:cNvPr id="16" name="Text 14"/>
          <p:cNvSpPr/>
          <p:nvPr/>
        </p:nvSpPr>
        <p:spPr>
          <a:xfrm>
            <a:off x="8631936" y="499262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[Field 1]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[Field 2]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4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[Field 3]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749808" y="6473952"/>
            <a:ext cx="6400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Template page: matrix / table layout</a:t>
            </a:r>
            <a:endParaRPr lang="en-US" sz="8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D1F9"/>
          </a:solidFill>
          <a:ln w="12700">
            <a:solidFill>
              <a:srgbClr val="BED1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92256" y="6464808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08</a:t>
            </a:r>
            <a:endParaRPr lang="en-US" sz="860" dirty="0"/>
          </a:p>
        </p:txBody>
      </p:sp>
      <p:sp>
        <p:nvSpPr>
          <p:cNvPr id="4" name="Text 2"/>
          <p:cNvSpPr/>
          <p:nvPr/>
        </p:nvSpPr>
        <p:spPr>
          <a:xfrm>
            <a:off x="749808" y="6217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[Executive summary structure]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" y="9692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[Best when you need to land a decision, not narrate every intermediate step.]</a:t>
            </a:r>
            <a:endParaRPr lang="en-US" sz="980" dirty="0"/>
          </a:p>
        </p:txBody>
      </p:sp>
      <p:sp>
        <p:nvSpPr>
          <p:cNvPr id="6" name="Shape 4"/>
          <p:cNvSpPr/>
          <p:nvPr/>
        </p:nvSpPr>
        <p:spPr>
          <a:xfrm>
            <a:off x="749808" y="1627632"/>
            <a:ext cx="248716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" y="1627632"/>
            <a:ext cx="2487168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901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[Claim]</a:t>
            </a:r>
            <a:endParaRPr lang="en-US" sz="1090" dirty="0"/>
          </a:p>
        </p:txBody>
      </p:sp>
      <p:sp>
        <p:nvSpPr>
          <p:cNvPr id="9" name="Text 7"/>
          <p:cNvSpPr/>
          <p:nvPr/>
        </p:nvSpPr>
        <p:spPr>
          <a:xfrm>
            <a:off x="969264" y="2231136"/>
            <a:ext cx="19933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[Short prompt / note]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3584448" y="1627632"/>
            <a:ext cx="248716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03904" y="1627632"/>
            <a:ext cx="2487168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03904" y="1901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[Evidence]</a:t>
            </a:r>
            <a:endParaRPr lang="en-US" sz="1090" dirty="0"/>
          </a:p>
        </p:txBody>
      </p:sp>
      <p:sp>
        <p:nvSpPr>
          <p:cNvPr id="13" name="Text 11"/>
          <p:cNvSpPr/>
          <p:nvPr/>
        </p:nvSpPr>
        <p:spPr>
          <a:xfrm>
            <a:off x="3803904" y="2231136"/>
            <a:ext cx="19933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[Short prompt / note]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6419088" y="1627632"/>
            <a:ext cx="248716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38544" y="1627632"/>
            <a:ext cx="2487168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38544" y="1901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[Failure mode]</a:t>
            </a:r>
            <a:endParaRPr lang="en-US" sz="1090" dirty="0"/>
          </a:p>
        </p:txBody>
      </p:sp>
      <p:sp>
        <p:nvSpPr>
          <p:cNvPr id="17" name="Text 15"/>
          <p:cNvSpPr/>
          <p:nvPr/>
        </p:nvSpPr>
        <p:spPr>
          <a:xfrm>
            <a:off x="6638544" y="2231136"/>
            <a:ext cx="19933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[Short prompt / note]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9253728" y="1627632"/>
            <a:ext cx="248716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73184" y="1627632"/>
            <a:ext cx="2487168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73184" y="1901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[Decision]</a:t>
            </a:r>
            <a:endParaRPr lang="en-US" sz="1090" dirty="0"/>
          </a:p>
        </p:txBody>
      </p:sp>
      <p:sp>
        <p:nvSpPr>
          <p:cNvPr id="21" name="Text 19"/>
          <p:cNvSpPr/>
          <p:nvPr/>
        </p:nvSpPr>
        <p:spPr>
          <a:xfrm>
            <a:off x="9473184" y="2231136"/>
            <a:ext cx="19933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[Short prompt / note]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749808" y="3913632"/>
            <a:ext cx="653796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416966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[Summary visual]</a:t>
            </a:r>
            <a:endParaRPr lang="en-US" sz="1090" dirty="0"/>
          </a:p>
        </p:txBody>
      </p:sp>
      <p:sp>
        <p:nvSpPr>
          <p:cNvPr id="24" name="Shape 22"/>
          <p:cNvSpPr/>
          <p:nvPr/>
        </p:nvSpPr>
        <p:spPr>
          <a:xfrm>
            <a:off x="987552" y="4517136"/>
            <a:ext cx="6035040" cy="1024128"/>
          </a:xfrm>
          <a:prstGeom prst="roundRect">
            <a:avLst>
              <a:gd name="adj" fmla="val 10714"/>
            </a:avLst>
          </a:prstGeom>
          <a:solidFill>
            <a:srgbClr val="FFFFFF">
              <a:alpha val="0"/>
            </a:srgbClr>
          </a:solidFill>
          <a:ln w="15240">
            <a:solidFill>
              <a:srgbClr val="BED1F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43584" y="4754880"/>
            <a:ext cx="5522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[Insert compact visual]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43584" y="5102352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[Matrix / scorecard / summary chart]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7498080" y="3913632"/>
            <a:ext cx="3931920" cy="1901952"/>
          </a:xfrm>
          <a:prstGeom prst="roundRect">
            <a:avLst>
              <a:gd name="adj" fmla="val 5769"/>
            </a:avLst>
          </a:prstGeom>
          <a:solidFill>
            <a:srgbClr val="F7F4EE"/>
          </a:solidFill>
          <a:ln w="13335">
            <a:solidFill>
              <a:srgbClr val="DDD9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416966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0233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[Tradeoff]</a:t>
            </a:r>
            <a:endParaRPr lang="en-US" sz="1090" dirty="0"/>
          </a:p>
        </p:txBody>
      </p:sp>
      <p:sp>
        <p:nvSpPr>
          <p:cNvPr id="29" name="Text 27"/>
          <p:cNvSpPr/>
          <p:nvPr/>
        </p:nvSpPr>
        <p:spPr>
          <a:xfrm>
            <a:off x="7772400" y="4498848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[Add the main tradeoff, caveat, or scope boundary here.]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49808" y="6473952"/>
            <a:ext cx="6400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6748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Template page: executive summary</a:t>
            </a:r>
            <a:endParaRPr lang="en-US" sz="8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QECA Personal Slide Template</dc:title>
  <dc:subject>Personal slide template deck</dc:subject>
  <dc:creator>Codex</dc:creator>
  <cp:lastModifiedBy>Codex</cp:lastModifiedBy>
  <cp:revision>1</cp:revision>
  <dcterms:created xsi:type="dcterms:W3CDTF">2026-03-30T15:14:05Z</dcterms:created>
  <dcterms:modified xsi:type="dcterms:W3CDTF">2026-03-30T15:14:05Z</dcterms:modified>
</cp:coreProperties>
</file>