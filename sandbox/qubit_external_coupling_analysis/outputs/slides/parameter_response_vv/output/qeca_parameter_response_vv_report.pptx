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ED1F9"/>
          </a:solidFill>
          <a:ln w="12700">
            <a:solidFill>
              <a:srgbClr val="BED1F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228832" y="647395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01</a:t>
            </a:r>
            <a:endParaRPr lang="en-US" sz="870" dirty="0"/>
          </a:p>
        </p:txBody>
      </p:sp>
      <p:sp>
        <p:nvSpPr>
          <p:cNvPr id="4" name="Shape 2"/>
          <p:cNvSpPr/>
          <p:nvPr/>
        </p:nvSpPr>
        <p:spPr>
          <a:xfrm>
            <a:off x="8065008" y="749808"/>
            <a:ext cx="4123944" cy="6108192"/>
          </a:xfrm>
          <a:prstGeom prst="rect">
            <a:avLst/>
          </a:prstGeom>
          <a:solidFill>
            <a:srgbClr val="F1EEE7"/>
          </a:solidFill>
          <a:ln w="12700">
            <a:solidFill>
              <a:srgbClr val="F1EEE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530352"/>
            <a:ext cx="2606040" cy="384048"/>
          </a:xfrm>
          <a:prstGeom prst="roundRect">
            <a:avLst>
              <a:gd name="adj" fmla="val 21429"/>
            </a:avLst>
          </a:prstGeom>
          <a:solidFill>
            <a:srgbClr val="EAF1FF"/>
          </a:solidFill>
          <a:ln w="12700">
            <a:solidFill>
              <a:srgbClr val="BED1F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630936"/>
            <a:ext cx="2240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2563E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QECA PARAMETER-RESPONSE V&amp;V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749808" y="1316736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Verification deck for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parameter-response falsification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749808" y="2487168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4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deck assumes you do not want to line-by-line audit every implementation detail. Instead, you audit each structure and each interface by sweeping the knobs that should expose incorrect behavior first.</a:t>
            </a:r>
            <a:endParaRPr lang="en-US" sz="1140" dirty="0"/>
          </a:p>
        </p:txBody>
      </p:sp>
      <p:sp>
        <p:nvSpPr>
          <p:cNvPr id="9" name="Shape 7"/>
          <p:cNvSpPr/>
          <p:nvPr/>
        </p:nvSpPr>
        <p:spPr>
          <a:xfrm>
            <a:off x="8394192" y="1408176"/>
            <a:ext cx="2816352" cy="4462272"/>
          </a:xfrm>
          <a:prstGeom prst="roundRect">
            <a:avLst>
              <a:gd name="adj" fmla="val 3896"/>
            </a:avLst>
          </a:prstGeom>
          <a:solidFill>
            <a:srgbClr val="FFFFFF"/>
          </a:solidFill>
          <a:ln w="13335">
            <a:solidFill>
              <a:srgbClr val="DDD9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68512" y="171907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Report Order</a:t>
            </a:r>
            <a:endParaRPr lang="en-US" sz="1090" dirty="0"/>
          </a:p>
        </p:txBody>
      </p:sp>
      <p:sp>
        <p:nvSpPr>
          <p:cNvPr id="11" name="Text 9"/>
          <p:cNvSpPr/>
          <p:nvPr/>
        </p:nvSpPr>
        <p:spPr>
          <a:xfrm>
            <a:off x="8613648" y="2029968"/>
            <a:ext cx="22128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98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Four structures: parameters and expected response</a:t>
            </a:r>
            <a:endParaRPr lang="en-US" sz="980" dirty="0"/>
          </a:p>
          <a:p>
            <a:pPr marL="152400" indent="-152400">
              <a:buSzPct val="100000"/>
              <a:buChar char="•"/>
            </a:pPr>
            <a:r>
              <a:rPr lang="en-US" sz="98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Six pairwise interfaces: direct or mediated</a:t>
            </a:r>
            <a:endParaRPr lang="en-US" sz="980" dirty="0"/>
          </a:p>
          <a:p>
            <a:pPr marL="152400" indent="-152400">
              <a:buSzPct val="100000"/>
              <a:buChar char="•"/>
            </a:pPr>
            <a:r>
              <a:rPr lang="en-US" sz="98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Expected behavior versus actual behavior slot</a:t>
            </a:r>
            <a:endParaRPr lang="en-US" sz="980" dirty="0"/>
          </a:p>
          <a:p>
            <a:pPr marL="152400" indent="-152400">
              <a:buSzPct val="100000"/>
              <a:buChar char="•"/>
            </a:pPr>
            <a:r>
              <a:rPr lang="en-US" sz="98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End with a repeatable execution checklist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8668512" y="4791456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Core matrix views in this study: reduced Ydm,in(ω), full Y(ω), Z→Y reductions, and readout-branch S21 with vector fitting.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49808" y="6473952"/>
            <a:ext cx="5943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Use this as the report front section before presenting any actual sweep results.</a:t>
            </a:r>
            <a:endParaRPr lang="en-US" sz="87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ED1F9"/>
          </a:solidFill>
          <a:ln w="12700">
            <a:solidFill>
              <a:srgbClr val="BED1F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228832" y="647395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02</a:t>
            </a:r>
            <a:endParaRPr lang="en-US" sz="870" dirty="0"/>
          </a:p>
        </p:txBody>
      </p:sp>
      <p:sp>
        <p:nvSpPr>
          <p:cNvPr id="4" name="Text 2"/>
          <p:cNvSpPr/>
          <p:nvPr/>
        </p:nvSpPr>
        <p:spPr>
          <a:xfrm>
            <a:off x="749808" y="53035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Method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49808" y="859536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Three-Part Verification Logic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49808" y="160934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This deck is intentionally about verification first, solution verification second, and validation third.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49808" y="2029968"/>
            <a:ext cx="2761488" cy="2048256"/>
          </a:xfrm>
          <a:prstGeom prst="roundRect">
            <a:avLst>
              <a:gd name="adj" fmla="val 5357"/>
            </a:avLst>
          </a:prstGeom>
          <a:solidFill>
            <a:srgbClr val="EAF1FF"/>
          </a:solidFill>
          <a:ln w="13335">
            <a:solidFill>
              <a:srgbClr val="BED1F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2267712"/>
            <a:ext cx="2121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2563E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1. Verification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969264" y="2615184"/>
            <a:ext cx="21945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Did the code implement the intended mathematical structure? Use parameter-response checks and decoupling limits.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4005072" y="2029968"/>
            <a:ext cx="2761488" cy="2048256"/>
          </a:xfrm>
          <a:prstGeom prst="roundRect">
            <a:avLst>
              <a:gd name="adj" fmla="val 5357"/>
            </a:avLst>
          </a:prstGeom>
          <a:solidFill>
            <a:srgbClr val="FFF5E5"/>
          </a:solidFill>
          <a:ln w="13335">
            <a:solidFill>
              <a:srgbClr val="F0D49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24528" y="2267712"/>
            <a:ext cx="2121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C8871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2. Solution Verification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4224528" y="2615184"/>
            <a:ext cx="21945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Are discretization, sweep resolution, matching windows, and fitting settings converged enough for this claim?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7260336" y="2029968"/>
            <a:ext cx="2761488" cy="2048256"/>
          </a:xfrm>
          <a:prstGeom prst="roundRect">
            <a:avLst>
              <a:gd name="adj" fmla="val 5357"/>
            </a:avLst>
          </a:prstGeom>
          <a:solidFill>
            <a:srgbClr val="ECF7F1"/>
          </a:solidFill>
          <a:ln w="13335">
            <a:solidFill>
              <a:srgbClr val="B7DD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79792" y="2267712"/>
            <a:ext cx="2121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2D8A6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3. Validation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7479792" y="2615184"/>
            <a:ext cx="21945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Do the trends and magnitudes still look like plausible physics, not only plausible numerics?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749808" y="4407408"/>
            <a:ext cx="10972800" cy="1444752"/>
          </a:xfrm>
          <a:prstGeom prst="roundRect">
            <a:avLst>
              <a:gd name="adj" fmla="val 7595"/>
            </a:avLst>
          </a:prstGeom>
          <a:solidFill>
            <a:srgbClr val="FFFFFF"/>
          </a:solidFill>
          <a:ln w="13335">
            <a:solidFill>
              <a:srgbClr val="DDD9C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464515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Operational Rule For This Study</a:t>
            </a:r>
            <a:endParaRPr lang="en-US" sz="1090" dirty="0"/>
          </a:p>
        </p:txBody>
      </p:sp>
      <p:sp>
        <p:nvSpPr>
          <p:cNvPr id="18" name="Text 16"/>
          <p:cNvSpPr/>
          <p:nvPr/>
        </p:nvSpPr>
        <p:spPr>
          <a:xfrm>
            <a:off x="932688" y="4901184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Start with self-structure sweeps where the expected trend is simplest and strongest.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Move to direct interfaces and check monotonicity under the explicit coupling knob.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Treat the remaining three pairs as mediated only, and audit them with path-breaking null tests.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749808" y="6473952"/>
            <a:ext cx="5943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report should make it obvious what would have broken first if the implementation were wrong.</a:t>
            </a:r>
            <a:endParaRPr lang="en-US" sz="8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ED1F9"/>
          </a:solidFill>
          <a:ln w="12700">
            <a:solidFill>
              <a:srgbClr val="BED1F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228832" y="647395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03</a:t>
            </a:r>
            <a:endParaRPr lang="en-US" sz="870" dirty="0"/>
          </a:p>
        </p:txBody>
      </p:sp>
      <p:sp>
        <p:nvSpPr>
          <p:cNvPr id="4" name="Text 2"/>
          <p:cNvSpPr/>
          <p:nvPr/>
        </p:nvSpPr>
        <p:spPr>
          <a:xfrm>
            <a:off x="749808" y="53035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Topology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49808" y="859536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Model Topology Used By The Audit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49808" y="1609344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This summary matters because some interfaces are direct in the netlist, while others are only mediated through an intermediate path.</a:t>
            </a:r>
            <a:endParaRPr lang="en-US" sz="1100" dirty="0"/>
          </a:p>
        </p:txBody>
      </p:sp>
      <p:pic>
        <p:nvPicPr>
          <p:cNvPr id="7" name="Image 0" descr="/Users/arfiligol/Github/superconducting-circuits-tutorial/.worktrees/sandbox-report-templates/sandbox/qubit_external_coupling_analysis/outputs/slides/parameter_response_vv/output/generated_assets/topology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956816"/>
            <a:ext cx="10899648" cy="43525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6473952"/>
            <a:ext cx="5943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 good verification report should respect the actual topology of the study model, not only the physical story we tell around it.</a:t>
            </a:r>
            <a:endParaRPr lang="en-US" sz="87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ED1F9"/>
          </a:solidFill>
          <a:ln w="12700">
            <a:solidFill>
              <a:srgbClr val="BED1F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228832" y="647395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04</a:t>
            </a:r>
            <a:endParaRPr lang="en-US" sz="870" dirty="0"/>
          </a:p>
        </p:txBody>
      </p:sp>
      <p:sp>
        <p:nvSpPr>
          <p:cNvPr id="4" name="Text 2"/>
          <p:cNvSpPr/>
          <p:nvPr/>
        </p:nvSpPr>
        <p:spPr>
          <a:xfrm>
            <a:off x="749808" y="53035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Inventory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49808" y="859536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Pairwise Audit Inventory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49808" y="1609344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Direct interfaces get sweep-based checks. Mediated interfaces get null checks and path-breaking checks.</a:t>
            </a:r>
            <a:endParaRPr lang="en-US" sz="1100" dirty="0"/>
          </a:p>
        </p:txBody>
      </p:sp>
      <p:pic>
        <p:nvPicPr>
          <p:cNvPr id="7" name="Image 0" descr="/Users/arfiligol/Github/superconducting-circuits-tutorial/.worktrees/sandbox-report-templates/sandbox/qubit_external_coupling_analysis/outputs/slides/parameter_response_vv/output/generated_assets/pairwise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901952"/>
            <a:ext cx="10881360" cy="42245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6473952"/>
            <a:ext cx="5943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This slide is the transition point between subsystem pages and pairwise-interface pages.</a:t>
            </a:r>
            <a:endParaRPr lang="en-US" sz="87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ED1F9"/>
          </a:solidFill>
          <a:ln w="12700">
            <a:solidFill>
              <a:srgbClr val="BED1F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228832" y="647395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05</a:t>
            </a:r>
            <a:endParaRPr lang="en-US" sz="870" dirty="0"/>
          </a:p>
        </p:txBody>
      </p:sp>
      <p:sp>
        <p:nvSpPr>
          <p:cNvPr id="4" name="Text 2"/>
          <p:cNvSpPr/>
          <p:nvPr/>
        </p:nvSpPr>
        <p:spPr>
          <a:xfrm>
            <a:off x="749808" y="53035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Subsystem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49808" y="859536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Qubit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49808" y="1609344"/>
            <a:ext cx="9875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Treat the qubit as the reference oscillator. This is where monotonicity checks should be easiest and where nonphysical loss should be easiest to spot.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49808" y="1938528"/>
            <a:ext cx="3145536" cy="1408176"/>
          </a:xfrm>
          <a:prstGeom prst="roundRect">
            <a:avLst>
              <a:gd name="adj" fmla="val 7792"/>
            </a:avLst>
          </a:prstGeom>
          <a:solidFill>
            <a:srgbClr val="F7F4EE"/>
          </a:solidFill>
          <a:ln w="13335">
            <a:solidFill>
              <a:srgbClr val="DDD9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17627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Knobs In This Study</a:t>
            </a:r>
            <a:endParaRPr lang="en-US" sz="1090" dirty="0"/>
          </a:p>
        </p:txBody>
      </p:sp>
      <p:sp>
        <p:nvSpPr>
          <p:cNvPr id="9" name="Text 7"/>
          <p:cNvSpPr/>
          <p:nvPr/>
        </p:nvSpPr>
        <p:spPr>
          <a:xfrm>
            <a:off x="987552" y="2468880"/>
            <a:ext cx="26151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66748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l_q_h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66748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c_q_f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66748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c_g1_f, c_g2_f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66748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qubit_port_res_ohm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749808" y="3511296"/>
            <a:ext cx="3145536" cy="1591056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3335">
            <a:solidFill>
              <a:srgbClr val="DDD9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37490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Primary Matrix View</a:t>
            </a:r>
            <a:endParaRPr lang="en-US" sz="1090" dirty="0"/>
          </a:p>
        </p:txBody>
      </p:sp>
      <p:sp>
        <p:nvSpPr>
          <p:cNvPr id="12" name="Text 10"/>
          <p:cNvSpPr/>
          <p:nvPr/>
        </p:nvSpPr>
        <p:spPr>
          <a:xfrm>
            <a:off x="987552" y="4041648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1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Primary observable: reduced Ydm,in(ω), extracted fq from Im(Ydm,in)=0, and Re(Ydm,in) at resonance.</a:t>
            </a:r>
            <a:endParaRPr lang="en-US" sz="1010" dirty="0"/>
          </a:p>
        </p:txBody>
      </p:sp>
      <p:sp>
        <p:nvSpPr>
          <p:cNvPr id="13" name="Shape 11"/>
          <p:cNvSpPr/>
          <p:nvPr/>
        </p:nvSpPr>
        <p:spPr>
          <a:xfrm>
            <a:off x="4114800" y="1938528"/>
            <a:ext cx="3438144" cy="3163824"/>
          </a:xfrm>
          <a:prstGeom prst="roundRect">
            <a:avLst>
              <a:gd name="adj" fmla="val 3468"/>
            </a:avLst>
          </a:prstGeom>
          <a:solidFill>
            <a:srgbClr val="FFFFFF"/>
          </a:solidFill>
          <a:ln w="13335">
            <a:solidFill>
              <a:srgbClr val="DDD9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70832" y="217627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Expected Qualitative Response</a:t>
            </a:r>
            <a:endParaRPr lang="en-US" sz="1090" dirty="0"/>
          </a:p>
        </p:txBody>
      </p:sp>
      <p:sp>
        <p:nvSpPr>
          <p:cNvPr id="15" name="Text 13"/>
          <p:cNvSpPr/>
          <p:nvPr/>
        </p:nvSpPr>
        <p:spPr>
          <a:xfrm>
            <a:off x="4315968" y="2487168"/>
            <a:ext cx="2907792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99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Lq up should move fq down.</a:t>
            </a:r>
            <a:endParaRPr lang="en-US" sz="990" dirty="0"/>
          </a:p>
          <a:p>
            <a:pPr marL="152400" indent="-152400">
              <a:buSzPct val="100000"/>
              <a:buChar char="•"/>
            </a:pPr>
            <a:r>
              <a:rPr lang="en-US" sz="99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Cq or pad-to-ground capacitance up should move fq down.</a:t>
            </a:r>
            <a:endParaRPr lang="en-US" sz="990" dirty="0"/>
          </a:p>
          <a:p>
            <a:pPr marL="152400" indent="-152400">
              <a:buSzPct val="100000"/>
              <a:buChar char="•"/>
            </a:pPr>
            <a:r>
              <a:rPr lang="en-US" sz="99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With c_xy = c_rq = 0, Re(Ydm,in) should stay small and smooth.</a:t>
            </a:r>
            <a:endParaRPr lang="en-US" sz="990" dirty="0"/>
          </a:p>
          <a:p>
            <a:pPr marL="152400" indent="-152400">
              <a:buSzPct val="100000"/>
              <a:buChar char="•"/>
            </a:pPr>
            <a:r>
              <a:rPr lang="en-US" sz="99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Pad asymmetry should affect CM/DM weighting, not spawn unrelated resonances.</a:t>
            </a:r>
            <a:endParaRPr lang="en-US" sz="990" dirty="0"/>
          </a:p>
        </p:txBody>
      </p:sp>
      <p:sp>
        <p:nvSpPr>
          <p:cNvPr id="16" name="Text 14"/>
          <p:cNvSpPr/>
          <p:nvPr/>
        </p:nvSpPr>
        <p:spPr>
          <a:xfrm>
            <a:off x="4370832" y="411480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What Counts As A Good Sign</a:t>
            </a:r>
            <a:endParaRPr lang="en-US" sz="1090" dirty="0"/>
          </a:p>
        </p:txBody>
      </p:sp>
      <p:sp>
        <p:nvSpPr>
          <p:cNvPr id="17" name="Text 15"/>
          <p:cNvSpPr/>
          <p:nvPr/>
        </p:nvSpPr>
        <p:spPr>
          <a:xfrm>
            <a:off x="4315968" y="4425696"/>
            <a:ext cx="290779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98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Zero crossing moves monotonically under parameter sweeps.</a:t>
            </a:r>
            <a:endParaRPr lang="en-US" sz="980" dirty="0"/>
          </a:p>
          <a:p>
            <a:pPr marL="152400" indent="-152400">
              <a:buSzPct val="100000"/>
              <a:buChar char="•"/>
            </a:pPr>
            <a:r>
              <a:rPr lang="en-US" sz="98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Retuning the bare qubit does not suddenly create large loss.</a:t>
            </a:r>
            <a:endParaRPr lang="en-US" sz="980" dirty="0"/>
          </a:p>
          <a:p>
            <a:pPr marL="152400" indent="-152400">
              <a:buSzPct val="100000"/>
              <a:buChar char="•"/>
            </a:pPr>
            <a:r>
              <a:rPr lang="en-US" sz="98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Frequency extraction is stable under sweep refinement.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7790688" y="1938528"/>
            <a:ext cx="3657600" cy="3163824"/>
          </a:xfrm>
          <a:prstGeom prst="roundRect">
            <a:avLst>
              <a:gd name="adj" fmla="val 3468"/>
            </a:avLst>
          </a:prstGeom>
          <a:solidFill>
            <a:srgbClr val="F7F4EE"/>
          </a:solidFill>
          <a:ln w="13335">
            <a:solidFill>
              <a:srgbClr val="DDD9C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91856" y="2176272"/>
            <a:ext cx="3255264" cy="2724912"/>
          </a:xfrm>
          <a:prstGeom prst="roundRect">
            <a:avLst>
              <a:gd name="adj" fmla="val 4027"/>
            </a:avLst>
          </a:prstGeom>
          <a:solidFill>
            <a:srgbClr val="FFFFFF">
              <a:alpha val="0"/>
            </a:srgbClr>
          </a:solidFill>
          <a:ln w="15240">
            <a:solidFill>
              <a:srgbClr val="BED1F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11312" y="2395728"/>
            <a:ext cx="2816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Actual behavior / plot slot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11312" y="2688336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Insert: Lq sweep, Im(Ydm,in) zero-crossing traces, and one isolated-qubit sanity plot.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8211312" y="3346704"/>
            <a:ext cx="2816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2563E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Recommended inserts</a:t>
            </a:r>
            <a:endParaRPr lang="en-US" sz="970" dirty="0"/>
          </a:p>
        </p:txBody>
      </p:sp>
      <p:sp>
        <p:nvSpPr>
          <p:cNvPr id="23" name="Text 21"/>
          <p:cNvSpPr/>
          <p:nvPr/>
        </p:nvSpPr>
        <p:spPr>
          <a:xfrm>
            <a:off x="8193024" y="3566160"/>
            <a:ext cx="28529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One sweep plot with a monotonic knob on the x-axis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One null-test or decoupling-limit comparison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One sentence on whether the observed trend matches expectation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49808" y="6473952"/>
            <a:ext cx="5943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Front section: first explain the structure, then explain what the structure should do when its own knobs are swept.</a:t>
            </a:r>
            <a:endParaRPr lang="en-US" sz="87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ED1F9"/>
          </a:solidFill>
          <a:ln w="12700">
            <a:solidFill>
              <a:srgbClr val="BED1F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228832" y="647395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06</a:t>
            </a:r>
            <a:endParaRPr lang="en-US" sz="870" dirty="0"/>
          </a:p>
        </p:txBody>
      </p:sp>
      <p:sp>
        <p:nvSpPr>
          <p:cNvPr id="4" name="Text 2"/>
          <p:cNvSpPr/>
          <p:nvPr/>
        </p:nvSpPr>
        <p:spPr>
          <a:xfrm>
            <a:off x="749808" y="53035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Subsystem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49808" y="859536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Readout Resonator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49808" y="1609344"/>
            <a:ext cx="9875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In this study the readout resonator is the quarter-wave resonator branch coupled into the readout line through the coupled window.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49808" y="1938528"/>
            <a:ext cx="3145536" cy="1408176"/>
          </a:xfrm>
          <a:prstGeom prst="roundRect">
            <a:avLst>
              <a:gd name="adj" fmla="val 7792"/>
            </a:avLst>
          </a:prstGeom>
          <a:solidFill>
            <a:srgbClr val="F7F4EE"/>
          </a:solidFill>
          <a:ln w="13335">
            <a:solidFill>
              <a:srgbClr val="DDD9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17627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Knobs In This Study</a:t>
            </a:r>
            <a:endParaRPr lang="en-US" sz="1090" dirty="0"/>
          </a:p>
        </p:txBody>
      </p:sp>
      <p:sp>
        <p:nvSpPr>
          <p:cNvPr id="9" name="Text 7"/>
          <p:cNvSpPr/>
          <p:nvPr/>
        </p:nvSpPr>
        <p:spPr>
          <a:xfrm>
            <a:off x="987552" y="2468880"/>
            <a:ext cx="26151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66748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qwr_length_m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66748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common_l_per_m_h, common_c_per_m_f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66748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common_r_per_m_ohm, common_g_per_m_s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66748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qwr_target_dz_m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749808" y="3511296"/>
            <a:ext cx="3145536" cy="1591056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3335">
            <a:solidFill>
              <a:srgbClr val="DDD9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37490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Primary Matrix View</a:t>
            </a:r>
            <a:endParaRPr lang="en-US" sz="1090" dirty="0"/>
          </a:p>
        </p:txBody>
      </p:sp>
      <p:sp>
        <p:nvSpPr>
          <p:cNvPr id="12" name="Text 10"/>
          <p:cNvSpPr/>
          <p:nvPr/>
        </p:nvSpPr>
        <p:spPr>
          <a:xfrm>
            <a:off x="987552" y="4041648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1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Primary observable: readout-line S21, fitted resonator poles from vector fitting, and optional local Y before reduction.</a:t>
            </a:r>
            <a:endParaRPr lang="en-US" sz="1010" dirty="0"/>
          </a:p>
        </p:txBody>
      </p:sp>
      <p:sp>
        <p:nvSpPr>
          <p:cNvPr id="13" name="Shape 11"/>
          <p:cNvSpPr/>
          <p:nvPr/>
        </p:nvSpPr>
        <p:spPr>
          <a:xfrm>
            <a:off x="4114800" y="1938528"/>
            <a:ext cx="3438144" cy="3163824"/>
          </a:xfrm>
          <a:prstGeom prst="roundRect">
            <a:avLst>
              <a:gd name="adj" fmla="val 3468"/>
            </a:avLst>
          </a:prstGeom>
          <a:solidFill>
            <a:srgbClr val="FFFFFF"/>
          </a:solidFill>
          <a:ln w="13335">
            <a:solidFill>
              <a:srgbClr val="DDD9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70832" y="217627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Expected Qualitative Response</a:t>
            </a:r>
            <a:endParaRPr lang="en-US" sz="1090" dirty="0"/>
          </a:p>
        </p:txBody>
      </p:sp>
      <p:sp>
        <p:nvSpPr>
          <p:cNvPr id="15" name="Text 13"/>
          <p:cNvSpPr/>
          <p:nvPr/>
        </p:nvSpPr>
        <p:spPr>
          <a:xfrm>
            <a:off x="4315968" y="2487168"/>
            <a:ext cx="2907792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99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Longer electrical length should move the readout-resonator resonance lower.</a:t>
            </a:r>
            <a:endParaRPr lang="en-US" sz="990" dirty="0"/>
          </a:p>
          <a:p>
            <a:pPr marL="152400" indent="-152400">
              <a:buSzPct val="100000"/>
              <a:buChar char="•"/>
            </a:pPr>
            <a:r>
              <a:rPr lang="en-US" sz="99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Changing common RLGC should shift distributed resonances consistently, not arbitrarily.</a:t>
            </a:r>
            <a:endParaRPr lang="en-US" sz="990" dirty="0"/>
          </a:p>
          <a:p>
            <a:pPr marL="152400" indent="-152400">
              <a:buSzPct val="100000"/>
              <a:buChar char="•"/>
            </a:pPr>
            <a:r>
              <a:rPr lang="en-US" sz="99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If c_rq1 = c_rq2 = 0, retuning the resonator should not move the qubit result.</a:t>
            </a:r>
            <a:endParaRPr lang="en-US" sz="990" dirty="0"/>
          </a:p>
          <a:p>
            <a:pPr marL="152400" indent="-152400">
              <a:buSzPct val="100000"/>
              <a:buChar char="•"/>
            </a:pPr>
            <a:r>
              <a:rPr lang="en-US" sz="99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Mesh refinement should converge mode locations instead of reordering them.</a:t>
            </a:r>
            <a:endParaRPr lang="en-US" sz="990" dirty="0"/>
          </a:p>
        </p:txBody>
      </p:sp>
      <p:sp>
        <p:nvSpPr>
          <p:cNvPr id="16" name="Text 14"/>
          <p:cNvSpPr/>
          <p:nvPr/>
        </p:nvSpPr>
        <p:spPr>
          <a:xfrm>
            <a:off x="4370832" y="411480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What Counts As A Good Sign</a:t>
            </a:r>
            <a:endParaRPr lang="en-US" sz="1090" dirty="0"/>
          </a:p>
        </p:txBody>
      </p:sp>
      <p:sp>
        <p:nvSpPr>
          <p:cNvPr id="17" name="Text 15"/>
          <p:cNvSpPr/>
          <p:nvPr/>
        </p:nvSpPr>
        <p:spPr>
          <a:xfrm>
            <a:off x="4315968" y="4425696"/>
            <a:ext cx="290779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98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narrower fitted resonance tracks the readout resonator consistently.</a:t>
            </a:r>
            <a:endParaRPr lang="en-US" sz="980" dirty="0"/>
          </a:p>
          <a:p>
            <a:pPr marL="152400" indent="-152400">
              <a:buSzPct val="100000"/>
              <a:buChar char="•"/>
            </a:pPr>
            <a:r>
              <a:rPr lang="en-US" sz="98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Resonance motion follows electrical length intuition.</a:t>
            </a:r>
            <a:endParaRPr lang="en-US" sz="980" dirty="0"/>
          </a:p>
          <a:p>
            <a:pPr marL="152400" indent="-152400">
              <a:buSzPct val="100000"/>
              <a:buChar char="•"/>
            </a:pPr>
            <a:r>
              <a:rPr lang="en-US" sz="98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resonator disappears from qubit behavior when the qubit interface is opened.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7790688" y="1938528"/>
            <a:ext cx="3657600" cy="3163824"/>
          </a:xfrm>
          <a:prstGeom prst="roundRect">
            <a:avLst>
              <a:gd name="adj" fmla="val 3468"/>
            </a:avLst>
          </a:prstGeom>
          <a:solidFill>
            <a:srgbClr val="F7F4EE"/>
          </a:solidFill>
          <a:ln w="13335">
            <a:solidFill>
              <a:srgbClr val="DDD9C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91856" y="2176272"/>
            <a:ext cx="3255264" cy="2724912"/>
          </a:xfrm>
          <a:prstGeom prst="roundRect">
            <a:avLst>
              <a:gd name="adj" fmla="val 4027"/>
            </a:avLst>
          </a:prstGeom>
          <a:solidFill>
            <a:srgbClr val="FFFFFF">
              <a:alpha val="0"/>
            </a:srgbClr>
          </a:solidFill>
          <a:ln w="15240">
            <a:solidFill>
              <a:srgbClr val="BED1F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11312" y="2395728"/>
            <a:ext cx="2816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Actual behavior / plot slot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11312" y="2688336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Insert: qwr length sweep on S21 and fitted resonance markers with c_rq toggled on/off.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8211312" y="3346704"/>
            <a:ext cx="2816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2563E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Recommended inserts</a:t>
            </a:r>
            <a:endParaRPr lang="en-US" sz="970" dirty="0"/>
          </a:p>
        </p:txBody>
      </p:sp>
      <p:sp>
        <p:nvSpPr>
          <p:cNvPr id="23" name="Text 21"/>
          <p:cNvSpPr/>
          <p:nvPr/>
        </p:nvSpPr>
        <p:spPr>
          <a:xfrm>
            <a:off x="8193024" y="3566160"/>
            <a:ext cx="28529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One sweep plot with a monotonic knob on the x-axis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One null-test or decoupling-limit comparison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One sentence on whether the observed trend matches expectation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49808" y="6473952"/>
            <a:ext cx="5943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Front section: first explain the structure, then explain what the structure should do when its own knobs are swept.</a:t>
            </a:r>
            <a:endParaRPr lang="en-US" sz="87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ED1F9"/>
          </a:solidFill>
          <a:ln w="12700">
            <a:solidFill>
              <a:srgbClr val="BED1F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228832" y="647395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07</a:t>
            </a:r>
            <a:endParaRPr lang="en-US" sz="870" dirty="0"/>
          </a:p>
        </p:txBody>
      </p:sp>
      <p:sp>
        <p:nvSpPr>
          <p:cNvPr id="4" name="Text 2"/>
          <p:cNvSpPr/>
          <p:nvPr/>
        </p:nvSpPr>
        <p:spPr>
          <a:xfrm>
            <a:off x="749808" y="53035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Subsystem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49808" y="859536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XY Line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49808" y="1609344"/>
            <a:ext cx="9875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Important modeling fact: in this study the XY lane is represented as a terminated XY node plus the qubit-to-XY coupling capacitors, not as a long distributed geometry block.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49808" y="1938528"/>
            <a:ext cx="3145536" cy="1408176"/>
          </a:xfrm>
          <a:prstGeom prst="roundRect">
            <a:avLst>
              <a:gd name="adj" fmla="val 7792"/>
            </a:avLst>
          </a:prstGeom>
          <a:solidFill>
            <a:srgbClr val="F7F4EE"/>
          </a:solidFill>
          <a:ln w="13335">
            <a:solidFill>
              <a:srgbClr val="DDD9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17627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Knobs In This Study</a:t>
            </a:r>
            <a:endParaRPr lang="en-US" sz="1090" dirty="0"/>
          </a:p>
        </p:txBody>
      </p:sp>
      <p:sp>
        <p:nvSpPr>
          <p:cNvPr id="9" name="Text 7"/>
          <p:cNvSpPr/>
          <p:nvPr/>
        </p:nvSpPr>
        <p:spPr>
          <a:xfrm>
            <a:off x="987552" y="2468880"/>
            <a:ext cx="26151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66748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c_xy1_f, c_xy2_f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66748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xy_port_res_ohm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66748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common RLGC only matters indirectly here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66748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No independent XY length parameter in this model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749808" y="3511296"/>
            <a:ext cx="3145536" cy="1591056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3335">
            <a:solidFill>
              <a:srgbClr val="DDD9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37490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Primary Matrix View</a:t>
            </a:r>
            <a:endParaRPr lang="en-US" sz="1090" dirty="0"/>
          </a:p>
        </p:txBody>
      </p:sp>
      <p:sp>
        <p:nvSpPr>
          <p:cNvPr id="12" name="Text 10"/>
          <p:cNvSpPr/>
          <p:nvPr/>
        </p:nvSpPr>
        <p:spPr>
          <a:xfrm>
            <a:off x="987552" y="4041648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1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Primary observable: port-3 loading in the full Y(ω) and its effect on reduced Ydm,in(ω).</a:t>
            </a:r>
            <a:endParaRPr lang="en-US" sz="1010" dirty="0"/>
          </a:p>
        </p:txBody>
      </p:sp>
      <p:sp>
        <p:nvSpPr>
          <p:cNvPr id="13" name="Shape 11"/>
          <p:cNvSpPr/>
          <p:nvPr/>
        </p:nvSpPr>
        <p:spPr>
          <a:xfrm>
            <a:off x="4114800" y="1938528"/>
            <a:ext cx="3438144" cy="3163824"/>
          </a:xfrm>
          <a:prstGeom prst="roundRect">
            <a:avLst>
              <a:gd name="adj" fmla="val 3468"/>
            </a:avLst>
          </a:prstGeom>
          <a:solidFill>
            <a:srgbClr val="FFFFFF"/>
          </a:solidFill>
          <a:ln w="13335">
            <a:solidFill>
              <a:srgbClr val="DDD9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70832" y="217627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Expected Qualitative Response</a:t>
            </a:r>
            <a:endParaRPr lang="en-US" sz="1090" dirty="0"/>
          </a:p>
        </p:txBody>
      </p:sp>
      <p:sp>
        <p:nvSpPr>
          <p:cNvPr id="15" name="Text 13"/>
          <p:cNvSpPr/>
          <p:nvPr/>
        </p:nvSpPr>
        <p:spPr>
          <a:xfrm>
            <a:off x="4315968" y="2487168"/>
            <a:ext cx="2907792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99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Increasing c_xy should strengthen the XY-only loading contribution.</a:t>
            </a:r>
            <a:endParaRPr lang="en-US" sz="990" dirty="0"/>
          </a:p>
          <a:p>
            <a:pPr marL="152400" indent="-152400">
              <a:buSzPct val="100000"/>
              <a:buChar char="•"/>
            </a:pPr>
            <a:r>
              <a:rPr lang="en-US" sz="99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Setting c_xy1 = c_xy2 = 0 should collapse the XY contribution cleanly.</a:t>
            </a:r>
            <a:endParaRPr lang="en-US" sz="990" dirty="0"/>
          </a:p>
          <a:p>
            <a:pPr marL="152400" indent="-152400">
              <a:buSzPct val="100000"/>
              <a:buChar char="•"/>
            </a:pPr>
            <a:r>
              <a:rPr lang="en-US" sz="99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Changing xy_port_res_ohm should alter dissipative loading but should not create readout resonances.</a:t>
            </a:r>
            <a:endParaRPr lang="en-US" sz="990" dirty="0"/>
          </a:p>
          <a:p>
            <a:pPr marL="152400" indent="-152400">
              <a:buSzPct val="100000"/>
              <a:buChar char="•"/>
            </a:pPr>
            <a:r>
              <a:rPr lang="en-US" sz="99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Any claim about XY distributed standing-wave motion should be treated carefully because this model does not expose an XY length knob.</a:t>
            </a:r>
            <a:endParaRPr lang="en-US" sz="990" dirty="0"/>
          </a:p>
        </p:txBody>
      </p:sp>
      <p:sp>
        <p:nvSpPr>
          <p:cNvPr id="16" name="Text 14"/>
          <p:cNvSpPr/>
          <p:nvPr/>
        </p:nvSpPr>
        <p:spPr>
          <a:xfrm>
            <a:off x="4370832" y="411480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What Counts As A Good Sign</a:t>
            </a:r>
            <a:endParaRPr lang="en-US" sz="1090" dirty="0"/>
          </a:p>
        </p:txBody>
      </p:sp>
      <p:sp>
        <p:nvSpPr>
          <p:cNvPr id="17" name="Text 15"/>
          <p:cNvSpPr/>
          <p:nvPr/>
        </p:nvSpPr>
        <p:spPr>
          <a:xfrm>
            <a:off x="4315968" y="4425696"/>
            <a:ext cx="290779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98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XY-only loss vanishes in the zero-coupling limit.</a:t>
            </a:r>
            <a:endParaRPr lang="en-US" sz="980" dirty="0"/>
          </a:p>
          <a:p>
            <a:pPr marL="152400" indent="-152400">
              <a:buSzPct val="100000"/>
              <a:buChar char="•"/>
            </a:pPr>
            <a:r>
              <a:rPr lang="en-US" sz="98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XY trends are monotonic with c_xy sweeps.</a:t>
            </a:r>
            <a:endParaRPr lang="en-US" sz="980" dirty="0"/>
          </a:p>
          <a:p>
            <a:pPr marL="152400" indent="-152400">
              <a:buSzPct val="100000"/>
              <a:buChar char="•"/>
            </a:pPr>
            <a:r>
              <a:rPr lang="en-US" sz="98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study narrative stays aligned with what the model actually contains.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7790688" y="1938528"/>
            <a:ext cx="3657600" cy="3163824"/>
          </a:xfrm>
          <a:prstGeom prst="roundRect">
            <a:avLst>
              <a:gd name="adj" fmla="val 3468"/>
            </a:avLst>
          </a:prstGeom>
          <a:solidFill>
            <a:srgbClr val="F7F4EE"/>
          </a:solidFill>
          <a:ln w="13335">
            <a:solidFill>
              <a:srgbClr val="DDD9C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91856" y="2176272"/>
            <a:ext cx="3255264" cy="2724912"/>
          </a:xfrm>
          <a:prstGeom prst="roundRect">
            <a:avLst>
              <a:gd name="adj" fmla="val 4027"/>
            </a:avLst>
          </a:prstGeom>
          <a:solidFill>
            <a:srgbClr val="FFFFFF">
              <a:alpha val="0"/>
            </a:srgbClr>
          </a:solidFill>
          <a:ln w="15240">
            <a:solidFill>
              <a:srgbClr val="BED1F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11312" y="2395728"/>
            <a:ext cx="2816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Actual behavior / plot slot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11312" y="2688336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Insert: c_xy sweep, xy_port_res sweep, and one note explaining the XY node abstraction.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8211312" y="3346704"/>
            <a:ext cx="2816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2563E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Recommended inserts</a:t>
            </a:r>
            <a:endParaRPr lang="en-US" sz="970" dirty="0"/>
          </a:p>
        </p:txBody>
      </p:sp>
      <p:sp>
        <p:nvSpPr>
          <p:cNvPr id="23" name="Text 21"/>
          <p:cNvSpPr/>
          <p:nvPr/>
        </p:nvSpPr>
        <p:spPr>
          <a:xfrm>
            <a:off x="8193024" y="3566160"/>
            <a:ext cx="28529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One sweep plot with a monotonic knob on the x-axis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One null-test or decoupling-limit comparison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One sentence on whether the observed trend matches expectation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49808" y="6473952"/>
            <a:ext cx="5943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Front section: first explain the structure, then explain what the structure should do when its own knobs are swept.</a:t>
            </a:r>
            <a:endParaRPr lang="en-US" sz="87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ED1F9"/>
          </a:solidFill>
          <a:ln w="12700">
            <a:solidFill>
              <a:srgbClr val="BED1F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228832" y="647395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08</a:t>
            </a:r>
            <a:endParaRPr lang="en-US" sz="870" dirty="0"/>
          </a:p>
        </p:txBody>
      </p:sp>
      <p:sp>
        <p:nvSpPr>
          <p:cNvPr id="4" name="Text 2"/>
          <p:cNvSpPr/>
          <p:nvPr/>
        </p:nvSpPr>
        <p:spPr>
          <a:xfrm>
            <a:off x="749808" y="53035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Subsystem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49808" y="859536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Readout Line With Purcell Filter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49808" y="1609344"/>
            <a:ext cx="9875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This is the distributed branch from readout input to output, including left line, half-wave Purcell filter, right line, and terminations.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49808" y="1938528"/>
            <a:ext cx="3145536" cy="1408176"/>
          </a:xfrm>
          <a:prstGeom prst="roundRect">
            <a:avLst>
              <a:gd name="adj" fmla="val 7792"/>
            </a:avLst>
          </a:prstGeom>
          <a:solidFill>
            <a:srgbClr val="F7F4EE"/>
          </a:solidFill>
          <a:ln w="13335">
            <a:solidFill>
              <a:srgbClr val="DDD9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17627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Knobs In This Study</a:t>
            </a:r>
            <a:endParaRPr lang="en-US" sz="1090" dirty="0"/>
          </a:p>
        </p:txBody>
      </p:sp>
      <p:sp>
        <p:nvSpPr>
          <p:cNvPr id="9" name="Text 7"/>
          <p:cNvSpPr/>
          <p:nvPr/>
        </p:nvSpPr>
        <p:spPr>
          <a:xfrm>
            <a:off x="987552" y="2468880"/>
            <a:ext cx="26151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66748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left_readout_length_m, right_readout_length_m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66748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purcell_filter_length_m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66748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pf_coupling_cap_in_f, pf_coupling_cap_out_f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66748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readout_port_res_ohm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66748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left/right/pf target_dz_m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749808" y="3511296"/>
            <a:ext cx="3145536" cy="1591056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3335">
            <a:solidFill>
              <a:srgbClr val="DDD9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37490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Primary Matrix View</a:t>
            </a:r>
            <a:endParaRPr lang="en-US" sz="1090" dirty="0"/>
          </a:p>
        </p:txBody>
      </p:sp>
      <p:sp>
        <p:nvSpPr>
          <p:cNvPr id="12" name="Text 10"/>
          <p:cNvSpPr/>
          <p:nvPr/>
        </p:nvSpPr>
        <p:spPr>
          <a:xfrm>
            <a:off x="987552" y="4041648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1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Primary observable: raw readout-line S21, fitted S21 model, and extracted Purcell-filter / readout-resonator resonances.</a:t>
            </a:r>
            <a:endParaRPr lang="en-US" sz="1010" dirty="0"/>
          </a:p>
        </p:txBody>
      </p:sp>
      <p:sp>
        <p:nvSpPr>
          <p:cNvPr id="13" name="Shape 11"/>
          <p:cNvSpPr/>
          <p:nvPr/>
        </p:nvSpPr>
        <p:spPr>
          <a:xfrm>
            <a:off x="4114800" y="1938528"/>
            <a:ext cx="3438144" cy="3163824"/>
          </a:xfrm>
          <a:prstGeom prst="roundRect">
            <a:avLst>
              <a:gd name="adj" fmla="val 3468"/>
            </a:avLst>
          </a:prstGeom>
          <a:solidFill>
            <a:srgbClr val="FFFFFF"/>
          </a:solidFill>
          <a:ln w="13335">
            <a:solidFill>
              <a:srgbClr val="DDD9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70832" y="217627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Expected Qualitative Response</a:t>
            </a:r>
            <a:endParaRPr lang="en-US" sz="1090" dirty="0"/>
          </a:p>
        </p:txBody>
      </p:sp>
      <p:sp>
        <p:nvSpPr>
          <p:cNvPr id="15" name="Text 13"/>
          <p:cNvSpPr/>
          <p:nvPr/>
        </p:nvSpPr>
        <p:spPr>
          <a:xfrm>
            <a:off x="4315968" y="2487168"/>
            <a:ext cx="2907792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99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Increasing electrical length should move the associated resonances or notches lower.</a:t>
            </a:r>
            <a:endParaRPr lang="en-US" sz="990" dirty="0"/>
          </a:p>
          <a:p>
            <a:pPr marL="152400" indent="-152400">
              <a:buSzPct val="100000"/>
              <a:buChar char="•"/>
            </a:pPr>
            <a:r>
              <a:rPr lang="en-US" sz="99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Changing PF coupling capacitors should alter bandwidth and feature strength.</a:t>
            </a:r>
            <a:endParaRPr lang="en-US" sz="990" dirty="0"/>
          </a:p>
          <a:p>
            <a:pPr marL="152400" indent="-152400">
              <a:buSzPct val="100000"/>
              <a:buChar char="•"/>
            </a:pPr>
            <a:r>
              <a:rPr lang="en-US" sz="99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Port termination changes should alter line response smoothly, not invent extra physics.</a:t>
            </a:r>
            <a:endParaRPr lang="en-US" sz="990" dirty="0"/>
          </a:p>
          <a:p>
            <a:pPr marL="152400" indent="-152400">
              <a:buSzPct val="100000"/>
              <a:buChar char="•"/>
            </a:pPr>
            <a:r>
              <a:rPr lang="en-US" sz="99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Discretization refinement should stabilize S21 features and fitted poles.</a:t>
            </a:r>
            <a:endParaRPr lang="en-US" sz="990" dirty="0"/>
          </a:p>
        </p:txBody>
      </p:sp>
      <p:sp>
        <p:nvSpPr>
          <p:cNvPr id="16" name="Text 14"/>
          <p:cNvSpPr/>
          <p:nvPr/>
        </p:nvSpPr>
        <p:spPr>
          <a:xfrm>
            <a:off x="4370832" y="411480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What Counts As A Good Sign</a:t>
            </a:r>
            <a:endParaRPr lang="en-US" sz="1090" dirty="0"/>
          </a:p>
        </p:txBody>
      </p:sp>
      <p:sp>
        <p:nvSpPr>
          <p:cNvPr id="17" name="Text 15"/>
          <p:cNvSpPr/>
          <p:nvPr/>
        </p:nvSpPr>
        <p:spPr>
          <a:xfrm>
            <a:off x="4315968" y="4425696"/>
            <a:ext cx="290779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98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broader fitted feature tracks the Purcell-filter mode consistently.</a:t>
            </a:r>
            <a:endParaRPr lang="en-US" sz="980" dirty="0"/>
          </a:p>
          <a:p>
            <a:pPr marL="152400" indent="-152400">
              <a:buSzPct val="100000"/>
              <a:buChar char="•"/>
            </a:pPr>
            <a:r>
              <a:rPr lang="en-US" sz="98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Mode motion is consistent with length scaling and coupling strength.</a:t>
            </a:r>
            <a:endParaRPr lang="en-US" sz="980" dirty="0"/>
          </a:p>
          <a:p>
            <a:pPr marL="152400" indent="-152400">
              <a:buSzPct val="100000"/>
              <a:buChar char="•"/>
            </a:pPr>
            <a:r>
              <a:rPr lang="en-US" sz="98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branch can be characterized cleanly even when qubit couplings are disabled.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7790688" y="1938528"/>
            <a:ext cx="3657600" cy="3163824"/>
          </a:xfrm>
          <a:prstGeom prst="roundRect">
            <a:avLst>
              <a:gd name="adj" fmla="val 3468"/>
            </a:avLst>
          </a:prstGeom>
          <a:solidFill>
            <a:srgbClr val="F7F4EE"/>
          </a:solidFill>
          <a:ln w="13335">
            <a:solidFill>
              <a:srgbClr val="DDD9C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91856" y="2176272"/>
            <a:ext cx="3255264" cy="2724912"/>
          </a:xfrm>
          <a:prstGeom prst="roundRect">
            <a:avLst>
              <a:gd name="adj" fmla="val 4027"/>
            </a:avLst>
          </a:prstGeom>
          <a:solidFill>
            <a:srgbClr val="FFFFFF">
              <a:alpha val="0"/>
            </a:srgbClr>
          </a:solidFill>
          <a:ln w="15240">
            <a:solidFill>
              <a:srgbClr val="BED1F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11312" y="2395728"/>
            <a:ext cx="2816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Actual behavior / plot slot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11312" y="2688336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Insert: S21 sweeps versus PF length and coupling-cap sweeps, plus vector-fitting overlays.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8211312" y="3346704"/>
            <a:ext cx="2816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2563E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Recommended inserts</a:t>
            </a:r>
            <a:endParaRPr lang="en-US" sz="970" dirty="0"/>
          </a:p>
        </p:txBody>
      </p:sp>
      <p:sp>
        <p:nvSpPr>
          <p:cNvPr id="23" name="Text 21"/>
          <p:cNvSpPr/>
          <p:nvPr/>
        </p:nvSpPr>
        <p:spPr>
          <a:xfrm>
            <a:off x="8193024" y="3566160"/>
            <a:ext cx="28529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One sweep plot with a monotonic knob on the x-axis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One null-test or decoupling-limit comparison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One sentence on whether the observed trend matches expectation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49808" y="6473952"/>
            <a:ext cx="5943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Front section: first explain the structure, then explain what the structure should do when its own knobs are swept.</a:t>
            </a:r>
            <a:endParaRPr lang="en-US" sz="87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ED1F9"/>
          </a:solidFill>
          <a:ln w="12700">
            <a:solidFill>
              <a:srgbClr val="BED1F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228832" y="647395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09</a:t>
            </a:r>
            <a:endParaRPr lang="en-US" sz="870" dirty="0"/>
          </a:p>
        </p:txBody>
      </p:sp>
      <p:sp>
        <p:nvSpPr>
          <p:cNvPr id="4" name="Text 2"/>
          <p:cNvSpPr/>
          <p:nvPr/>
        </p:nvSpPr>
        <p:spPr>
          <a:xfrm>
            <a:off x="749808" y="53035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Interface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49808" y="859536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Qubit ↔ XY Line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749808" y="1609344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Each pair should be audited by asking whether the parameter-response pattern matches the topology that this model actually contains.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948672" y="566928"/>
            <a:ext cx="1353312" cy="310896"/>
          </a:xfrm>
          <a:prstGeom prst="roundRect">
            <a:avLst>
              <a:gd name="adj" fmla="val 23529"/>
            </a:avLst>
          </a:prstGeom>
          <a:solidFill>
            <a:srgbClr val="EAF1FF"/>
          </a:solidFill>
          <a:ln w="12700">
            <a:solidFill>
              <a:srgbClr val="BED1F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48672" y="649224"/>
            <a:ext cx="13533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563E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Direct Interface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749808" y="1920240"/>
            <a:ext cx="3291840" cy="1188720"/>
          </a:xfrm>
          <a:prstGeom prst="roundRect">
            <a:avLst>
              <a:gd name="adj" fmla="val 9231"/>
            </a:avLst>
          </a:prstGeom>
          <a:solidFill>
            <a:srgbClr val="F7F4EE"/>
          </a:solidFill>
          <a:ln w="13335">
            <a:solidFill>
              <a:srgbClr val="DDD9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213969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Controlling Knobs</a:t>
            </a:r>
            <a:endParaRPr lang="en-US" sz="1090" dirty="0"/>
          </a:p>
        </p:txBody>
      </p:sp>
      <p:sp>
        <p:nvSpPr>
          <p:cNvPr id="11" name="Text 9"/>
          <p:cNvSpPr/>
          <p:nvPr/>
        </p:nvSpPr>
        <p:spPr>
          <a:xfrm>
            <a:off x="987552" y="241401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66748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c_xy1_f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66748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c_xy2_f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66748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xy_port_res_ohm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749808" y="3273552"/>
            <a:ext cx="32918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335">
            <a:solidFill>
              <a:srgbClr val="DDD9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351129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Primary Matrix View</a:t>
            </a:r>
            <a:endParaRPr lang="en-US" sz="1090" dirty="0"/>
          </a:p>
        </p:txBody>
      </p:sp>
      <p:sp>
        <p:nvSpPr>
          <p:cNvPr id="14" name="Text 12"/>
          <p:cNvSpPr/>
          <p:nvPr/>
        </p:nvSpPr>
        <p:spPr>
          <a:xfrm>
            <a:off x="987552" y="3803904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1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Use reduced Ydm,in(ω) near qubit resonance plus selected full Y(ω) traces for port 3.</a:t>
            </a:r>
            <a:endParaRPr lang="en-US" sz="1010" dirty="0"/>
          </a:p>
        </p:txBody>
      </p:sp>
      <p:sp>
        <p:nvSpPr>
          <p:cNvPr id="15" name="Shape 13"/>
          <p:cNvSpPr/>
          <p:nvPr/>
        </p:nvSpPr>
        <p:spPr>
          <a:xfrm>
            <a:off x="4242816" y="1920240"/>
            <a:ext cx="3493008" cy="3182112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3335">
            <a:solidFill>
              <a:srgbClr val="DDD9C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98848" y="213969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Expected Behavior</a:t>
            </a:r>
            <a:endParaRPr lang="en-US" sz="1090" dirty="0"/>
          </a:p>
        </p:txBody>
      </p:sp>
      <p:sp>
        <p:nvSpPr>
          <p:cNvPr id="17" name="Text 15"/>
          <p:cNvSpPr/>
          <p:nvPr/>
        </p:nvSpPr>
        <p:spPr>
          <a:xfrm>
            <a:off x="4443984" y="2432304"/>
            <a:ext cx="29443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99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Increasing c_xy should increase XY-only loading and usually increase Re(Ydm,in).</a:t>
            </a:r>
            <a:endParaRPr lang="en-US" sz="990" dirty="0"/>
          </a:p>
          <a:p>
            <a:pPr marL="152400" indent="-152400">
              <a:buSzPct val="100000"/>
              <a:buChar char="•"/>
            </a:pPr>
            <a:r>
              <a:rPr lang="en-US" sz="99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c_xy imbalance changes the centroid weights w1 and w2, so asymmetry should show up systematically.</a:t>
            </a:r>
            <a:endParaRPr lang="en-US" sz="990" dirty="0"/>
          </a:p>
          <a:p>
            <a:pPr marL="152400" indent="-152400">
              <a:buSzPct val="100000"/>
              <a:buChar char="•"/>
            </a:pPr>
            <a:r>
              <a:rPr lang="en-US" sz="99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Setting c_xy1 = c_xy2 = 0 should collapse to the no-XY reference.</a:t>
            </a:r>
            <a:endParaRPr lang="en-US" sz="990" dirty="0"/>
          </a:p>
        </p:txBody>
      </p:sp>
      <p:sp>
        <p:nvSpPr>
          <p:cNvPr id="18" name="Text 16"/>
          <p:cNvSpPr/>
          <p:nvPr/>
        </p:nvSpPr>
        <p:spPr>
          <a:xfrm>
            <a:off x="4498848" y="407822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If This Fails, Suspect</a:t>
            </a:r>
            <a:endParaRPr lang="en-US" sz="1090" dirty="0"/>
          </a:p>
        </p:txBody>
      </p:sp>
      <p:sp>
        <p:nvSpPr>
          <p:cNvPr id="19" name="Text 17"/>
          <p:cNvSpPr/>
          <p:nvPr/>
        </p:nvSpPr>
        <p:spPr>
          <a:xfrm>
            <a:off x="4443984" y="4370832"/>
            <a:ext cx="2944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98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Loss stays large even when c_xy is zero.</a:t>
            </a:r>
            <a:endParaRPr lang="en-US" sz="980" dirty="0"/>
          </a:p>
          <a:p>
            <a:pPr marL="152400" indent="-152400">
              <a:buSzPct val="100000"/>
              <a:buChar char="•"/>
            </a:pPr>
            <a:r>
              <a:rPr lang="en-US" sz="98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fq moves in the opposite direction with stronger XY loading without another explanation.</a:t>
            </a:r>
            <a:endParaRPr lang="en-US" sz="980" dirty="0"/>
          </a:p>
          <a:p>
            <a:pPr marL="152400" indent="-152400">
              <a:buSzPct val="100000"/>
              <a:buChar char="•"/>
            </a:pPr>
            <a:r>
              <a:rPr lang="en-US" sz="98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Random extra resonances appear when only c_xy is swept.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7936992" y="1920240"/>
            <a:ext cx="3511296" cy="3182112"/>
          </a:xfrm>
          <a:prstGeom prst="roundRect">
            <a:avLst>
              <a:gd name="adj" fmla="val 3448"/>
            </a:avLst>
          </a:prstGeom>
          <a:solidFill>
            <a:srgbClr val="F7F4EE"/>
          </a:solidFill>
          <a:ln w="13335">
            <a:solidFill>
              <a:srgbClr val="DDD9C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56448" y="2139696"/>
            <a:ext cx="3072384" cy="2743200"/>
          </a:xfrm>
          <a:prstGeom prst="roundRect">
            <a:avLst>
              <a:gd name="adj" fmla="val 4000"/>
            </a:avLst>
          </a:prstGeom>
          <a:solidFill>
            <a:srgbClr val="FFFFFF">
              <a:alpha val="0"/>
            </a:srgbClr>
          </a:solidFill>
          <a:ln w="15240">
            <a:solidFill>
              <a:srgbClr val="BED1F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75904" y="2359152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Actual behavior / plot slot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375904" y="2651760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Insert: XY-only sweep panel with c_xy magnitude and imbalance variants.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8375904" y="3310128"/>
            <a:ext cx="2633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2563E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Recommended inserts</a:t>
            </a:r>
            <a:endParaRPr lang="en-US" sz="970" dirty="0"/>
          </a:p>
        </p:txBody>
      </p:sp>
      <p:sp>
        <p:nvSpPr>
          <p:cNvPr id="25" name="Text 23"/>
          <p:cNvSpPr/>
          <p:nvPr/>
        </p:nvSpPr>
        <p:spPr>
          <a:xfrm>
            <a:off x="8357616" y="3529584"/>
            <a:ext cx="267004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One sweep plot with a monotonic knob on the x-axis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One null-test or decoupling-limit comparison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One sentence on whether the observed trend matches expectation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49808" y="6473952"/>
            <a:ext cx="5943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For mediated pairs, path-breaking null tests matter more than large parameter sweeps.</a:t>
            </a:r>
            <a:endParaRPr lang="en-US" sz="87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ED1F9"/>
          </a:solidFill>
          <a:ln w="12700">
            <a:solidFill>
              <a:srgbClr val="BED1F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228832" y="647395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10</a:t>
            </a:r>
            <a:endParaRPr lang="en-US" sz="870" dirty="0"/>
          </a:p>
        </p:txBody>
      </p:sp>
      <p:sp>
        <p:nvSpPr>
          <p:cNvPr id="4" name="Text 2"/>
          <p:cNvSpPr/>
          <p:nvPr/>
        </p:nvSpPr>
        <p:spPr>
          <a:xfrm>
            <a:off x="749808" y="53035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Interface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49808" y="859536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Qubit ↔ Readout Resonator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749808" y="1609344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Each pair should be audited by asking whether the parameter-response pattern matches the topology that this model actually contains.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948672" y="566928"/>
            <a:ext cx="1353312" cy="310896"/>
          </a:xfrm>
          <a:prstGeom prst="roundRect">
            <a:avLst>
              <a:gd name="adj" fmla="val 23529"/>
            </a:avLst>
          </a:prstGeom>
          <a:solidFill>
            <a:srgbClr val="EAF1FF"/>
          </a:solidFill>
          <a:ln w="12700">
            <a:solidFill>
              <a:srgbClr val="BED1F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48672" y="649224"/>
            <a:ext cx="13533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563E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Direct Interface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749808" y="1920240"/>
            <a:ext cx="3291840" cy="1188720"/>
          </a:xfrm>
          <a:prstGeom prst="roundRect">
            <a:avLst>
              <a:gd name="adj" fmla="val 9231"/>
            </a:avLst>
          </a:prstGeom>
          <a:solidFill>
            <a:srgbClr val="F7F4EE"/>
          </a:solidFill>
          <a:ln w="13335">
            <a:solidFill>
              <a:srgbClr val="DDD9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213969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Controlling Knobs</a:t>
            </a:r>
            <a:endParaRPr lang="en-US" sz="1090" dirty="0"/>
          </a:p>
        </p:txBody>
      </p:sp>
      <p:sp>
        <p:nvSpPr>
          <p:cNvPr id="11" name="Text 9"/>
          <p:cNvSpPr/>
          <p:nvPr/>
        </p:nvSpPr>
        <p:spPr>
          <a:xfrm>
            <a:off x="987552" y="241401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66748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c_rq1_f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66748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c_rq2_f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66748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qwr_length_m (alignment context)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749808" y="3273552"/>
            <a:ext cx="32918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335">
            <a:solidFill>
              <a:srgbClr val="DDD9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351129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Primary Matrix View</a:t>
            </a:r>
            <a:endParaRPr lang="en-US" sz="1090" dirty="0"/>
          </a:p>
        </p:txBody>
      </p:sp>
      <p:sp>
        <p:nvSpPr>
          <p:cNvPr id="14" name="Text 12"/>
          <p:cNvSpPr/>
          <p:nvPr/>
        </p:nvSpPr>
        <p:spPr>
          <a:xfrm>
            <a:off x="987552" y="3803904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1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Use reduced Ydm,in(ω) at the qubit plus S21 context from the readout branch.</a:t>
            </a:r>
            <a:endParaRPr lang="en-US" sz="1010" dirty="0"/>
          </a:p>
        </p:txBody>
      </p:sp>
      <p:sp>
        <p:nvSpPr>
          <p:cNvPr id="15" name="Shape 13"/>
          <p:cNvSpPr/>
          <p:nvPr/>
        </p:nvSpPr>
        <p:spPr>
          <a:xfrm>
            <a:off x="4242816" y="1920240"/>
            <a:ext cx="3493008" cy="3182112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3335">
            <a:solidFill>
              <a:srgbClr val="DDD9C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98848" y="213969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Expected Behavior</a:t>
            </a:r>
            <a:endParaRPr lang="en-US" sz="1090" dirty="0"/>
          </a:p>
        </p:txBody>
      </p:sp>
      <p:sp>
        <p:nvSpPr>
          <p:cNvPr id="17" name="Text 15"/>
          <p:cNvSpPr/>
          <p:nvPr/>
        </p:nvSpPr>
        <p:spPr>
          <a:xfrm>
            <a:off x="4443984" y="2432304"/>
            <a:ext cx="29443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99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Increasing c_rq should strengthen readout-mediated frequency shift and loss.</a:t>
            </a:r>
            <a:endParaRPr lang="en-US" sz="990" dirty="0"/>
          </a:p>
          <a:p>
            <a:pPr marL="152400" indent="-152400">
              <a:buSzPct val="100000"/>
              <a:buChar char="•"/>
            </a:pPr>
            <a:r>
              <a:rPr lang="en-US" sz="99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Tuning the resonator closer to the qubit should increase loading.</a:t>
            </a:r>
            <a:endParaRPr lang="en-US" sz="990" dirty="0"/>
          </a:p>
          <a:p>
            <a:pPr marL="152400" indent="-152400">
              <a:buSzPct val="100000"/>
              <a:buChar char="•"/>
            </a:pPr>
            <a:r>
              <a:rPr lang="en-US" sz="99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Setting c_rq1 = c_rq2 = 0 should disconnect the qubit from the entire readout branch.</a:t>
            </a:r>
            <a:endParaRPr lang="en-US" sz="990" dirty="0"/>
          </a:p>
        </p:txBody>
      </p:sp>
      <p:sp>
        <p:nvSpPr>
          <p:cNvPr id="18" name="Text 16"/>
          <p:cNvSpPr/>
          <p:nvPr/>
        </p:nvSpPr>
        <p:spPr>
          <a:xfrm>
            <a:off x="4498848" y="407822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If This Fails, Suspect</a:t>
            </a:r>
            <a:endParaRPr lang="en-US" sz="1090" dirty="0"/>
          </a:p>
        </p:txBody>
      </p:sp>
      <p:sp>
        <p:nvSpPr>
          <p:cNvPr id="19" name="Text 17"/>
          <p:cNvSpPr/>
          <p:nvPr/>
        </p:nvSpPr>
        <p:spPr>
          <a:xfrm>
            <a:off x="4443984" y="4370832"/>
            <a:ext cx="2944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98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qubit still feels the readout branch when c_rq is zero.</a:t>
            </a:r>
            <a:endParaRPr lang="en-US" sz="980" dirty="0"/>
          </a:p>
          <a:p>
            <a:pPr marL="152400" indent="-152400">
              <a:buSzPct val="100000"/>
              <a:buChar char="•"/>
            </a:pPr>
            <a:r>
              <a:rPr lang="en-US" sz="98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Changing qwr length strongly affects the qubit with the interface opened.</a:t>
            </a:r>
            <a:endParaRPr lang="en-US" sz="980" dirty="0"/>
          </a:p>
          <a:p>
            <a:pPr marL="152400" indent="-152400">
              <a:buSzPct val="100000"/>
              <a:buChar char="•"/>
            </a:pPr>
            <a:r>
              <a:rPr lang="en-US" sz="98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Observed shift and loss move incoherently under the same c_rq sweep.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7936992" y="1920240"/>
            <a:ext cx="3511296" cy="3182112"/>
          </a:xfrm>
          <a:prstGeom prst="roundRect">
            <a:avLst>
              <a:gd name="adj" fmla="val 3448"/>
            </a:avLst>
          </a:prstGeom>
          <a:solidFill>
            <a:srgbClr val="F7F4EE"/>
          </a:solidFill>
          <a:ln w="13335">
            <a:solidFill>
              <a:srgbClr val="DDD9C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56448" y="2139696"/>
            <a:ext cx="3072384" cy="2743200"/>
          </a:xfrm>
          <a:prstGeom prst="roundRect">
            <a:avLst>
              <a:gd name="adj" fmla="val 4000"/>
            </a:avLst>
          </a:prstGeom>
          <a:solidFill>
            <a:srgbClr val="FFFFFF">
              <a:alpha val="0"/>
            </a:srgbClr>
          </a:solidFill>
          <a:ln w="15240">
            <a:solidFill>
              <a:srgbClr val="BED1F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75904" y="2359152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Actual behavior / plot slot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375904" y="2651760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Insert: c_rq sweep, qwr detuning sweep, and readout-off null check.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8375904" y="3310128"/>
            <a:ext cx="2633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2563E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Recommended inserts</a:t>
            </a:r>
            <a:endParaRPr lang="en-US" sz="970" dirty="0"/>
          </a:p>
        </p:txBody>
      </p:sp>
      <p:sp>
        <p:nvSpPr>
          <p:cNvPr id="25" name="Text 23"/>
          <p:cNvSpPr/>
          <p:nvPr/>
        </p:nvSpPr>
        <p:spPr>
          <a:xfrm>
            <a:off x="8357616" y="3529584"/>
            <a:ext cx="267004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One sweep plot with a monotonic knob on the x-axis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One null-test or decoupling-limit comparison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One sentence on whether the observed trend matches expectation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49808" y="6473952"/>
            <a:ext cx="5943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For mediated pairs, path-breaking null tests matter more than large parameter sweeps.</a:t>
            </a:r>
            <a:endParaRPr lang="en-US" sz="87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ED1F9"/>
          </a:solidFill>
          <a:ln w="12700">
            <a:solidFill>
              <a:srgbClr val="BED1F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228832" y="647395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11</a:t>
            </a:r>
            <a:endParaRPr lang="en-US" sz="870" dirty="0"/>
          </a:p>
        </p:txBody>
      </p:sp>
      <p:sp>
        <p:nvSpPr>
          <p:cNvPr id="4" name="Text 2"/>
          <p:cNvSpPr/>
          <p:nvPr/>
        </p:nvSpPr>
        <p:spPr>
          <a:xfrm>
            <a:off x="749808" y="53035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Interface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49808" y="859536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Readout Resonator ↔ Readout Line + Purcell Filter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749808" y="1609344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Each pair should be audited by asking whether the parameter-response pattern matches the topology that this model actually contains.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948672" y="566928"/>
            <a:ext cx="1353312" cy="310896"/>
          </a:xfrm>
          <a:prstGeom prst="roundRect">
            <a:avLst>
              <a:gd name="adj" fmla="val 23529"/>
            </a:avLst>
          </a:prstGeom>
          <a:solidFill>
            <a:srgbClr val="EAF1FF"/>
          </a:solidFill>
          <a:ln w="12700">
            <a:solidFill>
              <a:srgbClr val="BED1F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48672" y="649224"/>
            <a:ext cx="13533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563E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Direct Interface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749808" y="1920240"/>
            <a:ext cx="3291840" cy="1188720"/>
          </a:xfrm>
          <a:prstGeom prst="roundRect">
            <a:avLst>
              <a:gd name="adj" fmla="val 9231"/>
            </a:avLst>
          </a:prstGeom>
          <a:solidFill>
            <a:srgbClr val="F7F4EE"/>
          </a:solidFill>
          <a:ln w="13335">
            <a:solidFill>
              <a:srgbClr val="DDD9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213969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Controlling Knobs</a:t>
            </a:r>
            <a:endParaRPr lang="en-US" sz="1090" dirty="0"/>
          </a:p>
        </p:txBody>
      </p:sp>
      <p:sp>
        <p:nvSpPr>
          <p:cNvPr id="11" name="Text 9"/>
          <p:cNvSpPr/>
          <p:nvPr/>
        </p:nvSpPr>
        <p:spPr>
          <a:xfrm>
            <a:off x="987552" y="241401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66748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coupled_window_length_m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66748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coupled_window_input_mode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66748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q2d_* or modal even/odd parameters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66748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pf_window_start_m, qwr_window_start_m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749808" y="3273552"/>
            <a:ext cx="32918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335">
            <a:solidFill>
              <a:srgbClr val="DDD9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351129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Primary Matrix View</a:t>
            </a:r>
            <a:endParaRPr lang="en-US" sz="1090" dirty="0"/>
          </a:p>
        </p:txBody>
      </p:sp>
      <p:sp>
        <p:nvSpPr>
          <p:cNvPr id="14" name="Text 12"/>
          <p:cNvSpPr/>
          <p:nvPr/>
        </p:nvSpPr>
        <p:spPr>
          <a:xfrm>
            <a:off x="987552" y="3803904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1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Use raw S21, fitted S21 model, and extracted resonances from the readout branch.</a:t>
            </a:r>
            <a:endParaRPr lang="en-US" sz="1010" dirty="0"/>
          </a:p>
        </p:txBody>
      </p:sp>
      <p:sp>
        <p:nvSpPr>
          <p:cNvPr id="15" name="Shape 13"/>
          <p:cNvSpPr/>
          <p:nvPr/>
        </p:nvSpPr>
        <p:spPr>
          <a:xfrm>
            <a:off x="4242816" y="1920240"/>
            <a:ext cx="3493008" cy="3182112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3335">
            <a:solidFill>
              <a:srgbClr val="DDD9C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98848" y="213969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Expected Behavior</a:t>
            </a:r>
            <a:endParaRPr lang="en-US" sz="1090" dirty="0"/>
          </a:p>
        </p:txBody>
      </p:sp>
      <p:sp>
        <p:nvSpPr>
          <p:cNvPr id="17" name="Text 15"/>
          <p:cNvSpPr/>
          <p:nvPr/>
        </p:nvSpPr>
        <p:spPr>
          <a:xfrm>
            <a:off x="4443984" y="2432304"/>
            <a:ext cx="29443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99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Longer or stronger coupled-window interaction should increase hybridization.</a:t>
            </a:r>
            <a:endParaRPr lang="en-US" sz="990" dirty="0"/>
          </a:p>
          <a:p>
            <a:pPr marL="152400" indent="-152400">
              <a:buSzPct val="100000"/>
              <a:buChar char="•"/>
            </a:pPr>
            <a:r>
              <a:rPr lang="en-US" sz="99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Window length → 0 or mutual terms → 0 should decouple the resonator from the line.</a:t>
            </a:r>
            <a:endParaRPr lang="en-US" sz="990" dirty="0"/>
          </a:p>
          <a:p>
            <a:pPr marL="152400" indent="-152400">
              <a:buSzPct val="100000"/>
              <a:buChar char="•"/>
            </a:pPr>
            <a:r>
              <a:rPr lang="en-US" sz="99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Modal and q2d parameterizations should agree qualitatively on trend direction.</a:t>
            </a:r>
            <a:endParaRPr lang="en-US" sz="990" dirty="0"/>
          </a:p>
        </p:txBody>
      </p:sp>
      <p:sp>
        <p:nvSpPr>
          <p:cNvPr id="18" name="Text 16"/>
          <p:cNvSpPr/>
          <p:nvPr/>
        </p:nvSpPr>
        <p:spPr>
          <a:xfrm>
            <a:off x="4498848" y="407822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If This Fails, Suspect</a:t>
            </a:r>
            <a:endParaRPr lang="en-US" sz="1090" dirty="0"/>
          </a:p>
        </p:txBody>
      </p:sp>
      <p:sp>
        <p:nvSpPr>
          <p:cNvPr id="19" name="Text 17"/>
          <p:cNvSpPr/>
          <p:nvPr/>
        </p:nvSpPr>
        <p:spPr>
          <a:xfrm>
            <a:off x="4443984" y="4370832"/>
            <a:ext cx="2944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98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resonator feature does not respond to window strength at all.</a:t>
            </a:r>
            <a:endParaRPr lang="en-US" sz="980" dirty="0"/>
          </a:p>
          <a:p>
            <a:pPr marL="152400" indent="-152400">
              <a:buSzPct val="100000"/>
              <a:buChar char="•"/>
            </a:pPr>
            <a:r>
              <a:rPr lang="en-US" sz="98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line still shows strong resonator loading with the window effectively off.</a:t>
            </a:r>
            <a:endParaRPr lang="en-US" sz="980" dirty="0"/>
          </a:p>
          <a:p>
            <a:pPr marL="152400" indent="-152400">
              <a:buSzPct val="100000"/>
              <a:buChar char="•"/>
            </a:pPr>
            <a:r>
              <a:rPr lang="en-US" sz="98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q2d and modal modes disagree on basic trend direction.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7936992" y="1920240"/>
            <a:ext cx="3511296" cy="3182112"/>
          </a:xfrm>
          <a:prstGeom prst="roundRect">
            <a:avLst>
              <a:gd name="adj" fmla="val 3448"/>
            </a:avLst>
          </a:prstGeom>
          <a:solidFill>
            <a:srgbClr val="F7F4EE"/>
          </a:solidFill>
          <a:ln w="13335">
            <a:solidFill>
              <a:srgbClr val="DDD9C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56448" y="2139696"/>
            <a:ext cx="3072384" cy="2743200"/>
          </a:xfrm>
          <a:prstGeom prst="roundRect">
            <a:avLst>
              <a:gd name="adj" fmla="val 4000"/>
            </a:avLst>
          </a:prstGeom>
          <a:solidFill>
            <a:srgbClr val="FFFFFF">
              <a:alpha val="0"/>
            </a:srgbClr>
          </a:solidFill>
          <a:ln w="15240">
            <a:solidFill>
              <a:srgbClr val="BED1F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75904" y="2359152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Actual behavior / plot slot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375904" y="2651760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Insert: coupled-window length sweep, modal-vs-q2d comparison, and one decoupling limit plot.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8375904" y="3310128"/>
            <a:ext cx="2633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2563E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Recommended inserts</a:t>
            </a:r>
            <a:endParaRPr lang="en-US" sz="970" dirty="0"/>
          </a:p>
        </p:txBody>
      </p:sp>
      <p:sp>
        <p:nvSpPr>
          <p:cNvPr id="25" name="Text 23"/>
          <p:cNvSpPr/>
          <p:nvPr/>
        </p:nvSpPr>
        <p:spPr>
          <a:xfrm>
            <a:off x="8357616" y="3529584"/>
            <a:ext cx="267004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One sweep plot with a monotonic knob on the x-axis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One null-test or decoupling-limit comparison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One sentence on whether the observed trend matches expectation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49808" y="6473952"/>
            <a:ext cx="5943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For mediated pairs, path-breaking null tests matter more than large parameter sweeps.</a:t>
            </a:r>
            <a:endParaRPr lang="en-US" sz="87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ED1F9"/>
          </a:solidFill>
          <a:ln w="12700">
            <a:solidFill>
              <a:srgbClr val="BED1F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228832" y="647395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12</a:t>
            </a:r>
            <a:endParaRPr lang="en-US" sz="870" dirty="0"/>
          </a:p>
        </p:txBody>
      </p:sp>
      <p:sp>
        <p:nvSpPr>
          <p:cNvPr id="4" name="Text 2"/>
          <p:cNvSpPr/>
          <p:nvPr/>
        </p:nvSpPr>
        <p:spPr>
          <a:xfrm>
            <a:off x="749808" y="53035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Interface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49808" y="859536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Qubit ↔ Readout Line + Purcell Filter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749808" y="1609344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Each pair should be audited by asking whether the parameter-response pattern matches the topology that this model actually contains.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948672" y="566928"/>
            <a:ext cx="1353312" cy="310896"/>
          </a:xfrm>
          <a:prstGeom prst="roundRect">
            <a:avLst>
              <a:gd name="adj" fmla="val 23529"/>
            </a:avLst>
          </a:prstGeom>
          <a:solidFill>
            <a:srgbClr val="FFF5E5"/>
          </a:solidFill>
          <a:ln w="12700">
            <a:solidFill>
              <a:srgbClr val="F0D49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48672" y="649224"/>
            <a:ext cx="13533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C8871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Mediated Interface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749808" y="1920240"/>
            <a:ext cx="3291840" cy="1188720"/>
          </a:xfrm>
          <a:prstGeom prst="roundRect">
            <a:avLst>
              <a:gd name="adj" fmla="val 9231"/>
            </a:avLst>
          </a:prstGeom>
          <a:solidFill>
            <a:srgbClr val="F7F4EE"/>
          </a:solidFill>
          <a:ln w="13335">
            <a:solidFill>
              <a:srgbClr val="DDD9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213969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Controlling Knobs</a:t>
            </a:r>
            <a:endParaRPr lang="en-US" sz="1090" dirty="0"/>
          </a:p>
        </p:txBody>
      </p:sp>
      <p:sp>
        <p:nvSpPr>
          <p:cNvPr id="11" name="Text 9"/>
          <p:cNvSpPr/>
          <p:nvPr/>
        </p:nvSpPr>
        <p:spPr>
          <a:xfrm>
            <a:off x="987552" y="241401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66748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No direct knob in this model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66748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Path toggles: c_rq*, coupled_window_length_m, PF branch lengths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749808" y="3273552"/>
            <a:ext cx="32918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335">
            <a:solidFill>
              <a:srgbClr val="DDD9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351129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Primary Matrix View</a:t>
            </a:r>
            <a:endParaRPr lang="en-US" sz="1090" dirty="0"/>
          </a:p>
        </p:txBody>
      </p:sp>
      <p:sp>
        <p:nvSpPr>
          <p:cNvPr id="14" name="Text 12"/>
          <p:cNvSpPr/>
          <p:nvPr/>
        </p:nvSpPr>
        <p:spPr>
          <a:xfrm>
            <a:off x="987552" y="3803904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1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Use reduced Ydm,in(ω) for the qubit and S21 for the readout branch as a path-consistency check.</a:t>
            </a:r>
            <a:endParaRPr lang="en-US" sz="1010" dirty="0"/>
          </a:p>
        </p:txBody>
      </p:sp>
      <p:sp>
        <p:nvSpPr>
          <p:cNvPr id="15" name="Shape 13"/>
          <p:cNvSpPr/>
          <p:nvPr/>
        </p:nvSpPr>
        <p:spPr>
          <a:xfrm>
            <a:off x="4242816" y="1920240"/>
            <a:ext cx="3493008" cy="3182112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3335">
            <a:solidFill>
              <a:srgbClr val="DDD9C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98848" y="213969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Expected Behavior</a:t>
            </a:r>
            <a:endParaRPr lang="en-US" sz="1090" dirty="0"/>
          </a:p>
        </p:txBody>
      </p:sp>
      <p:sp>
        <p:nvSpPr>
          <p:cNvPr id="17" name="Text 15"/>
          <p:cNvSpPr/>
          <p:nvPr/>
        </p:nvSpPr>
        <p:spPr>
          <a:xfrm>
            <a:off x="4443984" y="2432304"/>
            <a:ext cx="29443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99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This effect must disappear if either the qubit↔resonator or resonator↔line interface is opened.</a:t>
            </a:r>
            <a:endParaRPr lang="en-US" sz="990" dirty="0"/>
          </a:p>
          <a:p>
            <a:pPr marL="152400" indent="-152400">
              <a:buSzPct val="100000"/>
              <a:buChar char="•"/>
            </a:pPr>
            <a:r>
              <a:rPr lang="en-US" sz="99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Changing PF geometry with c_rq = 0 should not move the qubit result.</a:t>
            </a:r>
            <a:endParaRPr lang="en-US" sz="990" dirty="0"/>
          </a:p>
          <a:p>
            <a:pPr marL="152400" indent="-152400">
              <a:buSzPct val="100000"/>
              <a:buChar char="•"/>
            </a:pPr>
            <a:r>
              <a:rPr lang="en-US" sz="99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effect should look path-mediated, not like a brand-new direct capacitor.</a:t>
            </a:r>
            <a:endParaRPr lang="en-US" sz="990" dirty="0"/>
          </a:p>
        </p:txBody>
      </p:sp>
      <p:sp>
        <p:nvSpPr>
          <p:cNvPr id="18" name="Text 16"/>
          <p:cNvSpPr/>
          <p:nvPr/>
        </p:nvSpPr>
        <p:spPr>
          <a:xfrm>
            <a:off x="4498848" y="407822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If This Fails, Suspect</a:t>
            </a:r>
            <a:endParaRPr lang="en-US" sz="1090" dirty="0"/>
          </a:p>
        </p:txBody>
      </p:sp>
      <p:sp>
        <p:nvSpPr>
          <p:cNvPr id="19" name="Text 17"/>
          <p:cNvSpPr/>
          <p:nvPr/>
        </p:nvSpPr>
        <p:spPr>
          <a:xfrm>
            <a:off x="4443984" y="4370832"/>
            <a:ext cx="2944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98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PF changes move the qubit even with c_rq opened.</a:t>
            </a:r>
            <a:endParaRPr lang="en-US" sz="980" dirty="0"/>
          </a:p>
          <a:p>
            <a:pPr marL="152400" indent="-152400">
              <a:buSzPct val="100000"/>
              <a:buChar char="•"/>
            </a:pPr>
            <a:r>
              <a:rPr lang="en-US" sz="98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qubit responds as if there were a direct line coupling that is absent from the netlist.</a:t>
            </a:r>
            <a:endParaRPr lang="en-US" sz="980" dirty="0"/>
          </a:p>
          <a:p>
            <a:pPr marL="152400" indent="-152400">
              <a:buSzPct val="100000"/>
              <a:buChar char="•"/>
            </a:pPr>
            <a:r>
              <a:rPr lang="en-US" sz="98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Path-breaking toggles do not suppress the effect.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7936992" y="1920240"/>
            <a:ext cx="3511296" cy="3182112"/>
          </a:xfrm>
          <a:prstGeom prst="roundRect">
            <a:avLst>
              <a:gd name="adj" fmla="val 3448"/>
            </a:avLst>
          </a:prstGeom>
          <a:solidFill>
            <a:srgbClr val="F7F4EE"/>
          </a:solidFill>
          <a:ln w="13335">
            <a:solidFill>
              <a:srgbClr val="DDD9C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56448" y="2139696"/>
            <a:ext cx="3072384" cy="2743200"/>
          </a:xfrm>
          <a:prstGeom prst="roundRect">
            <a:avLst>
              <a:gd name="adj" fmla="val 4000"/>
            </a:avLst>
          </a:prstGeom>
          <a:solidFill>
            <a:srgbClr val="FFFFFF">
              <a:alpha val="0"/>
            </a:srgbClr>
          </a:solidFill>
          <a:ln w="15240">
            <a:solidFill>
              <a:srgbClr val="BED1F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75904" y="2359152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Actual behavior / plot slot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375904" y="2651760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Insert: PF sweep with c_rq on/off, plus one path-break comparison panel.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8375904" y="3310128"/>
            <a:ext cx="2633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2563E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Recommended inserts</a:t>
            </a:r>
            <a:endParaRPr lang="en-US" sz="970" dirty="0"/>
          </a:p>
        </p:txBody>
      </p:sp>
      <p:sp>
        <p:nvSpPr>
          <p:cNvPr id="25" name="Text 23"/>
          <p:cNvSpPr/>
          <p:nvPr/>
        </p:nvSpPr>
        <p:spPr>
          <a:xfrm>
            <a:off x="8357616" y="3529584"/>
            <a:ext cx="267004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One sweep plot with a monotonic knob on the x-axis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One null-test or decoupling-limit comparison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One sentence on whether the observed trend matches expectation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49808" y="6473952"/>
            <a:ext cx="5943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For mediated pairs, path-breaking null tests matter more than large parameter sweeps.</a:t>
            </a:r>
            <a:endParaRPr lang="en-US" sz="87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ED1F9"/>
          </a:solidFill>
          <a:ln w="12700">
            <a:solidFill>
              <a:srgbClr val="BED1F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228832" y="647395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13</a:t>
            </a:r>
            <a:endParaRPr lang="en-US" sz="870" dirty="0"/>
          </a:p>
        </p:txBody>
      </p:sp>
      <p:sp>
        <p:nvSpPr>
          <p:cNvPr id="4" name="Text 2"/>
          <p:cNvSpPr/>
          <p:nvPr/>
        </p:nvSpPr>
        <p:spPr>
          <a:xfrm>
            <a:off x="749808" y="53035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Interface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49808" y="859536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Readout Resonator ↔ XY Line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749808" y="1609344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Each pair should be audited by asking whether the parameter-response pattern matches the topology that this model actually contains.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948672" y="566928"/>
            <a:ext cx="1353312" cy="310896"/>
          </a:xfrm>
          <a:prstGeom prst="roundRect">
            <a:avLst>
              <a:gd name="adj" fmla="val 23529"/>
            </a:avLst>
          </a:prstGeom>
          <a:solidFill>
            <a:srgbClr val="FFF5E5"/>
          </a:solidFill>
          <a:ln w="12700">
            <a:solidFill>
              <a:srgbClr val="F0D49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48672" y="649224"/>
            <a:ext cx="13533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C8871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Mediated Interface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749808" y="1920240"/>
            <a:ext cx="3291840" cy="1188720"/>
          </a:xfrm>
          <a:prstGeom prst="roundRect">
            <a:avLst>
              <a:gd name="adj" fmla="val 9231"/>
            </a:avLst>
          </a:prstGeom>
          <a:solidFill>
            <a:srgbClr val="F7F4EE"/>
          </a:solidFill>
          <a:ln w="13335">
            <a:solidFill>
              <a:srgbClr val="DDD9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213969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Controlling Knobs</a:t>
            </a:r>
            <a:endParaRPr lang="en-US" sz="1090" dirty="0"/>
          </a:p>
        </p:txBody>
      </p:sp>
      <p:sp>
        <p:nvSpPr>
          <p:cNvPr id="11" name="Text 9"/>
          <p:cNvSpPr/>
          <p:nvPr/>
        </p:nvSpPr>
        <p:spPr>
          <a:xfrm>
            <a:off x="987552" y="241401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66748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No direct knob in this model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66748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Path toggles: c_rq*, c_xy*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749808" y="3273552"/>
            <a:ext cx="32918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335">
            <a:solidFill>
              <a:srgbClr val="DDD9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351129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Primary Matrix View</a:t>
            </a:r>
            <a:endParaRPr lang="en-US" sz="1090" dirty="0"/>
          </a:p>
        </p:txBody>
      </p:sp>
      <p:sp>
        <p:nvSpPr>
          <p:cNvPr id="14" name="Text 12"/>
          <p:cNvSpPr/>
          <p:nvPr/>
        </p:nvSpPr>
        <p:spPr>
          <a:xfrm>
            <a:off x="987552" y="3803904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1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Use Ydm,in(ω) and selected full-matrix traces only as a mediated-effect null test.</a:t>
            </a:r>
            <a:endParaRPr lang="en-US" sz="1010" dirty="0"/>
          </a:p>
        </p:txBody>
      </p:sp>
      <p:sp>
        <p:nvSpPr>
          <p:cNvPr id="15" name="Shape 13"/>
          <p:cNvSpPr/>
          <p:nvPr/>
        </p:nvSpPr>
        <p:spPr>
          <a:xfrm>
            <a:off x="4242816" y="1920240"/>
            <a:ext cx="3493008" cy="3182112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3335">
            <a:solidFill>
              <a:srgbClr val="DDD9C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98848" y="213969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Expected Behavior</a:t>
            </a:r>
            <a:endParaRPr lang="en-US" sz="1090" dirty="0"/>
          </a:p>
        </p:txBody>
      </p:sp>
      <p:sp>
        <p:nvSpPr>
          <p:cNvPr id="17" name="Text 15"/>
          <p:cNvSpPr/>
          <p:nvPr/>
        </p:nvSpPr>
        <p:spPr>
          <a:xfrm>
            <a:off x="4443984" y="2432304"/>
            <a:ext cx="29443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99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This interaction should exist only through the shared qubit network.</a:t>
            </a:r>
            <a:endParaRPr lang="en-US" sz="990" dirty="0"/>
          </a:p>
          <a:p>
            <a:pPr marL="152400" indent="-152400">
              <a:buSzPct val="100000"/>
              <a:buChar char="•"/>
            </a:pPr>
            <a:r>
              <a:rPr lang="en-US" sz="99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Zeroing either c_rq or c_xy should kill the path.</a:t>
            </a:r>
            <a:endParaRPr lang="en-US" sz="990" dirty="0"/>
          </a:p>
          <a:p>
            <a:pPr marL="152400" indent="-152400">
              <a:buSzPct val="100000"/>
              <a:buChar char="•"/>
            </a:pPr>
            <a:r>
              <a:rPr lang="en-US" sz="99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Any residual feature should be small and systematic, not dominant.</a:t>
            </a:r>
            <a:endParaRPr lang="en-US" sz="990" dirty="0"/>
          </a:p>
        </p:txBody>
      </p:sp>
      <p:sp>
        <p:nvSpPr>
          <p:cNvPr id="18" name="Text 16"/>
          <p:cNvSpPr/>
          <p:nvPr/>
        </p:nvSpPr>
        <p:spPr>
          <a:xfrm>
            <a:off x="4498848" y="407822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If This Fails, Suspect</a:t>
            </a:r>
            <a:endParaRPr lang="en-US" sz="1090" dirty="0"/>
          </a:p>
        </p:txBody>
      </p:sp>
      <p:sp>
        <p:nvSpPr>
          <p:cNvPr id="19" name="Text 17"/>
          <p:cNvSpPr/>
          <p:nvPr/>
        </p:nvSpPr>
        <p:spPr>
          <a:xfrm>
            <a:off x="4443984" y="4370832"/>
            <a:ext cx="2944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98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 strong RR↔XY effect remains after zeroing one side of the path.</a:t>
            </a:r>
            <a:endParaRPr lang="en-US" sz="980" dirty="0"/>
          </a:p>
          <a:p>
            <a:pPr marL="152400" indent="-152400">
              <a:buSzPct val="100000"/>
              <a:buChar char="•"/>
            </a:pPr>
            <a:r>
              <a:rPr lang="en-US" sz="98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 new standalone feature appears that cannot be routed through the qubit.</a:t>
            </a:r>
            <a:endParaRPr lang="en-US" sz="980" dirty="0"/>
          </a:p>
          <a:p>
            <a:pPr marL="152400" indent="-152400">
              <a:buSzPct val="100000"/>
              <a:buChar char="•"/>
            </a:pPr>
            <a:r>
              <a:rPr lang="en-US" sz="98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Trend magnitude is first-order when the topology only allows higher-order mediation.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7936992" y="1920240"/>
            <a:ext cx="3511296" cy="3182112"/>
          </a:xfrm>
          <a:prstGeom prst="roundRect">
            <a:avLst>
              <a:gd name="adj" fmla="val 3448"/>
            </a:avLst>
          </a:prstGeom>
          <a:solidFill>
            <a:srgbClr val="F7F4EE"/>
          </a:solidFill>
          <a:ln w="13335">
            <a:solidFill>
              <a:srgbClr val="DDD9C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56448" y="2139696"/>
            <a:ext cx="3072384" cy="2743200"/>
          </a:xfrm>
          <a:prstGeom prst="roundRect">
            <a:avLst>
              <a:gd name="adj" fmla="val 4000"/>
            </a:avLst>
          </a:prstGeom>
          <a:solidFill>
            <a:srgbClr val="FFFFFF">
              <a:alpha val="0"/>
            </a:srgbClr>
          </a:solidFill>
          <a:ln w="15240">
            <a:solidFill>
              <a:srgbClr val="BED1F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75904" y="2359152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Actual behavior / plot slot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375904" y="2651760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Insert: c_xy / c_rq path-break matrix and one residual-effect summary.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8375904" y="3310128"/>
            <a:ext cx="2633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2563E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Recommended inserts</a:t>
            </a:r>
            <a:endParaRPr lang="en-US" sz="970" dirty="0"/>
          </a:p>
        </p:txBody>
      </p:sp>
      <p:sp>
        <p:nvSpPr>
          <p:cNvPr id="25" name="Text 23"/>
          <p:cNvSpPr/>
          <p:nvPr/>
        </p:nvSpPr>
        <p:spPr>
          <a:xfrm>
            <a:off x="8357616" y="3529584"/>
            <a:ext cx="267004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One sweep plot with a monotonic knob on the x-axis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One null-test or decoupling-limit comparison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One sentence on whether the observed trend matches expectation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49808" y="6473952"/>
            <a:ext cx="5943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For mediated pairs, path-breaking null tests matter more than large parameter sweeps.</a:t>
            </a:r>
            <a:endParaRPr lang="en-US" sz="87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ED1F9"/>
          </a:solidFill>
          <a:ln w="12700">
            <a:solidFill>
              <a:srgbClr val="BED1F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228832" y="647395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14</a:t>
            </a:r>
            <a:endParaRPr lang="en-US" sz="870" dirty="0"/>
          </a:p>
        </p:txBody>
      </p:sp>
      <p:sp>
        <p:nvSpPr>
          <p:cNvPr id="4" name="Text 2"/>
          <p:cNvSpPr/>
          <p:nvPr/>
        </p:nvSpPr>
        <p:spPr>
          <a:xfrm>
            <a:off x="749808" y="53035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Interface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49808" y="859536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XY Line ↔ Readout Line + Purcell Filter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749808" y="1609344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Each pair should be audited by asking whether the parameter-response pattern matches the topology that this model actually contains.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948672" y="566928"/>
            <a:ext cx="1353312" cy="310896"/>
          </a:xfrm>
          <a:prstGeom prst="roundRect">
            <a:avLst>
              <a:gd name="adj" fmla="val 23529"/>
            </a:avLst>
          </a:prstGeom>
          <a:solidFill>
            <a:srgbClr val="FFF5E5"/>
          </a:solidFill>
          <a:ln w="12700">
            <a:solidFill>
              <a:srgbClr val="F0D49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48672" y="649224"/>
            <a:ext cx="13533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C8871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Mediated Interface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749808" y="1920240"/>
            <a:ext cx="3291840" cy="1188720"/>
          </a:xfrm>
          <a:prstGeom prst="roundRect">
            <a:avLst>
              <a:gd name="adj" fmla="val 9231"/>
            </a:avLst>
          </a:prstGeom>
          <a:solidFill>
            <a:srgbClr val="F7F4EE"/>
          </a:solidFill>
          <a:ln w="13335">
            <a:solidFill>
              <a:srgbClr val="DDD9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213969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Controlling Knobs</a:t>
            </a:r>
            <a:endParaRPr lang="en-US" sz="1090" dirty="0"/>
          </a:p>
        </p:txBody>
      </p:sp>
      <p:sp>
        <p:nvSpPr>
          <p:cNvPr id="11" name="Text 9"/>
          <p:cNvSpPr/>
          <p:nvPr/>
        </p:nvSpPr>
        <p:spPr>
          <a:xfrm>
            <a:off x="987552" y="241401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66748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No direct knob in this model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66748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Path toggles: c_xy*, c_rq*, coupled_window_length_m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749808" y="3273552"/>
            <a:ext cx="32918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335">
            <a:solidFill>
              <a:srgbClr val="DDD9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351129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Primary Matrix View</a:t>
            </a:r>
            <a:endParaRPr lang="en-US" sz="1090" dirty="0"/>
          </a:p>
        </p:txBody>
      </p:sp>
      <p:sp>
        <p:nvSpPr>
          <p:cNvPr id="14" name="Text 12"/>
          <p:cNvSpPr/>
          <p:nvPr/>
        </p:nvSpPr>
        <p:spPr>
          <a:xfrm>
            <a:off x="987552" y="3803904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1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Use Ydm,in(ω) and branch S21 only as a mediated consistency check.</a:t>
            </a:r>
            <a:endParaRPr lang="en-US" sz="1010" dirty="0"/>
          </a:p>
        </p:txBody>
      </p:sp>
      <p:sp>
        <p:nvSpPr>
          <p:cNvPr id="15" name="Shape 13"/>
          <p:cNvSpPr/>
          <p:nvPr/>
        </p:nvSpPr>
        <p:spPr>
          <a:xfrm>
            <a:off x="4242816" y="1920240"/>
            <a:ext cx="3493008" cy="3182112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3335">
            <a:solidFill>
              <a:srgbClr val="DDD9C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98848" y="213969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Expected Behavior</a:t>
            </a:r>
            <a:endParaRPr lang="en-US" sz="1090" dirty="0"/>
          </a:p>
        </p:txBody>
      </p:sp>
      <p:sp>
        <p:nvSpPr>
          <p:cNvPr id="17" name="Text 15"/>
          <p:cNvSpPr/>
          <p:nvPr/>
        </p:nvSpPr>
        <p:spPr>
          <a:xfrm>
            <a:off x="4443984" y="2432304"/>
            <a:ext cx="29443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99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This is a second-order path through the qubit and resonator network.</a:t>
            </a:r>
            <a:endParaRPr lang="en-US" sz="990" dirty="0"/>
          </a:p>
          <a:p>
            <a:pPr marL="152400" indent="-152400">
              <a:buSzPct val="100000"/>
              <a:buChar char="•"/>
            </a:pPr>
            <a:r>
              <a:rPr lang="en-US" sz="99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Zeroing c_xy or c_rq should collapse the interaction.</a:t>
            </a:r>
            <a:endParaRPr lang="en-US" sz="990" dirty="0"/>
          </a:p>
          <a:p>
            <a:pPr marL="152400" indent="-152400">
              <a:buSzPct val="100000"/>
              <a:buChar char="•"/>
            </a:pPr>
            <a:r>
              <a:rPr lang="en-US" sz="99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Changing PF geometry alone should not change the XY-only reference case.</a:t>
            </a:r>
            <a:endParaRPr lang="en-US" sz="990" dirty="0"/>
          </a:p>
        </p:txBody>
      </p:sp>
      <p:sp>
        <p:nvSpPr>
          <p:cNvPr id="18" name="Text 16"/>
          <p:cNvSpPr/>
          <p:nvPr/>
        </p:nvSpPr>
        <p:spPr>
          <a:xfrm>
            <a:off x="4498848" y="407822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If This Fails, Suspect</a:t>
            </a:r>
            <a:endParaRPr lang="en-US" sz="1090" dirty="0"/>
          </a:p>
        </p:txBody>
      </p:sp>
      <p:sp>
        <p:nvSpPr>
          <p:cNvPr id="19" name="Text 17"/>
          <p:cNvSpPr/>
          <p:nvPr/>
        </p:nvSpPr>
        <p:spPr>
          <a:xfrm>
            <a:off x="4443984" y="4370832"/>
            <a:ext cx="2944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98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PF geometry changes alter XY-only behavior without the readout path engaged.</a:t>
            </a:r>
            <a:endParaRPr lang="en-US" sz="980" dirty="0"/>
          </a:p>
          <a:p>
            <a:pPr marL="152400" indent="-152400">
              <a:buSzPct val="100000"/>
              <a:buChar char="•"/>
            </a:pPr>
            <a:r>
              <a:rPr lang="en-US" sz="98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mediated effect is larger than the direct interfaces without a clear explanation.</a:t>
            </a:r>
            <a:endParaRPr lang="en-US" sz="980" dirty="0"/>
          </a:p>
          <a:p>
            <a:pPr marL="152400" indent="-152400">
              <a:buSzPct val="100000"/>
              <a:buChar char="•"/>
            </a:pPr>
            <a:r>
              <a:rPr lang="en-US" sz="98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Path-breaking toggles fail to suppress the effect.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7936992" y="1920240"/>
            <a:ext cx="3511296" cy="3182112"/>
          </a:xfrm>
          <a:prstGeom prst="roundRect">
            <a:avLst>
              <a:gd name="adj" fmla="val 3448"/>
            </a:avLst>
          </a:prstGeom>
          <a:solidFill>
            <a:srgbClr val="F7F4EE"/>
          </a:solidFill>
          <a:ln w="13335">
            <a:solidFill>
              <a:srgbClr val="DDD9C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56448" y="2139696"/>
            <a:ext cx="3072384" cy="2743200"/>
          </a:xfrm>
          <a:prstGeom prst="roundRect">
            <a:avLst>
              <a:gd name="adj" fmla="val 4000"/>
            </a:avLst>
          </a:prstGeom>
          <a:solidFill>
            <a:srgbClr val="FFFFFF">
              <a:alpha val="0"/>
            </a:srgbClr>
          </a:solidFill>
          <a:ln w="15240">
            <a:solidFill>
              <a:srgbClr val="BED1F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75904" y="2359152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Actual behavior / plot slot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375904" y="2651760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Insert: XY-only versus XY+RO comparison with explicit path toggles.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8375904" y="3310128"/>
            <a:ext cx="2633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2563E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Recommended inserts</a:t>
            </a:r>
            <a:endParaRPr lang="en-US" sz="970" dirty="0"/>
          </a:p>
        </p:txBody>
      </p:sp>
      <p:sp>
        <p:nvSpPr>
          <p:cNvPr id="25" name="Text 23"/>
          <p:cNvSpPr/>
          <p:nvPr/>
        </p:nvSpPr>
        <p:spPr>
          <a:xfrm>
            <a:off x="8357616" y="3529584"/>
            <a:ext cx="267004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One sweep plot with a monotonic knob on the x-axis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One null-test or decoupling-limit comparison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One sentence on whether the observed trend matches expectation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49808" y="6473952"/>
            <a:ext cx="5943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For mediated pairs, path-breaking null tests matter more than large parameter sweeps.</a:t>
            </a:r>
            <a:endParaRPr lang="en-US" sz="87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ED1F9"/>
          </a:solidFill>
          <a:ln w="12700">
            <a:solidFill>
              <a:srgbClr val="BED1F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228832" y="647395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15</a:t>
            </a:r>
            <a:endParaRPr lang="en-US" sz="870" dirty="0"/>
          </a:p>
        </p:txBody>
      </p:sp>
      <p:sp>
        <p:nvSpPr>
          <p:cNvPr id="4" name="Text 2"/>
          <p:cNvSpPr/>
          <p:nvPr/>
        </p:nvSpPr>
        <p:spPr>
          <a:xfrm>
            <a:off x="749808" y="53035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Execution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49808" y="859536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How To Run The Audit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49808" y="1609344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This last slide turns the deck into a repeatable protocol instead of a one-off presentation.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49808" y="1920240"/>
            <a:ext cx="5394960" cy="4059936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3335">
            <a:solidFill>
              <a:srgbClr val="DDD9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15798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Per-Slide Fill-In Rule</a:t>
            </a:r>
            <a:endParaRPr lang="en-US" sz="1090" dirty="0"/>
          </a:p>
        </p:txBody>
      </p:sp>
      <p:sp>
        <p:nvSpPr>
          <p:cNvPr id="9" name="Text 7"/>
          <p:cNvSpPr/>
          <p:nvPr/>
        </p:nvSpPr>
        <p:spPr>
          <a:xfrm>
            <a:off x="932688" y="2487168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Name the parameter being swept and which structure or interface it belongs to.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State the expected matrix signature before showing the plot.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Add the actual plot and one sentence: matched / partially matched / failed.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If it fails, point to the first plausible implementation surface to inspect.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987552" y="444398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Recommended Score Columns</a:t>
            </a:r>
            <a:endParaRPr lang="en-US" sz="1090" dirty="0"/>
          </a:p>
        </p:txBody>
      </p:sp>
      <p:sp>
        <p:nvSpPr>
          <p:cNvPr id="11" name="Text 9"/>
          <p:cNvSpPr/>
          <p:nvPr/>
        </p:nvSpPr>
        <p:spPr>
          <a:xfrm>
            <a:off x="987552" y="4736592"/>
            <a:ext cx="30175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66748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structure_or_pair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66748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swept_knob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66748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primary_matrix_view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66748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expected_trend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66748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observed_trend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66748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pass_status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66748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confidence_delta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6400800" y="1920240"/>
            <a:ext cx="5047488" cy="4059936"/>
          </a:xfrm>
          <a:prstGeom prst="roundRect">
            <a:avLst>
              <a:gd name="adj" fmla="val 2703"/>
            </a:avLst>
          </a:prstGeom>
          <a:solidFill>
            <a:srgbClr val="F7F4EE"/>
          </a:solidFill>
          <a:ln w="13335">
            <a:solidFill>
              <a:srgbClr val="DDD9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56832" y="215798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Minimum Black-Box Test Set</a:t>
            </a:r>
            <a:endParaRPr lang="en-US" sz="1090" dirty="0"/>
          </a:p>
        </p:txBody>
      </p:sp>
      <p:sp>
        <p:nvSpPr>
          <p:cNvPr id="14" name="Text 12"/>
          <p:cNvSpPr/>
          <p:nvPr/>
        </p:nvSpPr>
        <p:spPr>
          <a:xfrm>
            <a:off x="6601968" y="2487168"/>
            <a:ext cx="434340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One monotonic self-sweep per structure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One zero-coupling or decoupling-limit test per direct interface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One path-breaking null test per mediated interface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One discretization or sweep-resolution refinement check on the final claim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One external-physics sanity check on magnitude or mode location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656832" y="462686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Decision Rule</a:t>
            </a:r>
            <a:endParaRPr lang="en-US" sz="1090" dirty="0"/>
          </a:p>
        </p:txBody>
      </p:sp>
      <p:sp>
        <p:nvSpPr>
          <p:cNvPr id="16" name="Text 14"/>
          <p:cNvSpPr/>
          <p:nvPr/>
        </p:nvSpPr>
        <p:spPr>
          <a:xfrm>
            <a:off x="6656832" y="4901184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Do not ask whether the implementation feels reasonable. Ask whether the necessary failure signatures stayed absent under the sweeps that should have exposed them first.</a:t>
            </a:r>
            <a:endParaRPr lang="en-US" sz="1030" dirty="0"/>
          </a:p>
        </p:txBody>
      </p:sp>
      <p:sp>
        <p:nvSpPr>
          <p:cNvPr id="17" name="Text 15"/>
          <p:cNvSpPr/>
          <p:nvPr/>
        </p:nvSpPr>
        <p:spPr>
          <a:xfrm>
            <a:off x="749808" y="6473952"/>
            <a:ext cx="5943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This protocol is designed for a researcher who cannot afford a full line-by-line code audit.</a:t>
            </a:r>
            <a:endParaRPr lang="en-US" sz="87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QECA Parameter-Response Verification Report</dc:title>
  <dc:subject>QECA parameter-response V&amp;V report</dc:subject>
  <dc:creator>Codex</dc:creator>
  <cp:lastModifiedBy>Codex</cp:lastModifiedBy>
  <cp:revision>1</cp:revision>
  <dcterms:created xsi:type="dcterms:W3CDTF">2026-03-30T04:19:39Z</dcterms:created>
  <dcterms:modified xsi:type="dcterms:W3CDTF">2026-03-30T04:19:39Z</dcterms:modified>
</cp:coreProperties>
</file>